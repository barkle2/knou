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김동현입니다. 이번 발표에서는 생성형 AI의 취약점을 찾아 개선하는 AI 레드팀을 소개하겠습니다. LG AI연구원이 2024년 11월 공개한 기술 블로그를 바탕으로, 레드팀의 개념과 공격·방어 전략을 살펴보겠습니다. 이어서 자동으로 공격과 방어를 반복하는 MART 연구와 ChatEXAONE 적용 사례를 설명하겠습니다. 발표의 핵심 질문은 모델이 얼마나 잘 답하는가에 더해, 어떤 상황에서 위험한 답을 만드는지 어떻게 확인할 것인가입니다.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사용자의 요청에 맞춰 다양한 답을 만들어 냅니다. 하지만 뛰어난 생성 능력이 항상 안전한 결과로 이어지는 것은 아닙니다. 악의적인 요청이나 예상하지 못한 상호작용에서 유해한 응답, 편향된 결과, 보안 문제가 발생할 수 있습니다. 레드팀은 이런 실패 상황을 의도적으로 찾아 점검하는 활동입니다. 예를 들어 정상적인 요약 요청은 잘 처리하더라도, 외부 문서에 섞인 지시가 모델의 동작을 바꿀 수 있는지는 별도로 확인해야 합니다. 화면의 예시는 개념 설명을 위해 만든 것입니다. 중요한 점은 공격자뿐 아니라 일반 사용자에게서 생기는 부적절한 결과도 점검 대상이라는 것입니다.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블로그는 AI 레드팀을 네 단계로 설명합니다. 첫째, 서비스에서 발생할 수 있는 위험을 식별하고 분류합니다. 둘째, 그 위험을 드러낼 공격 전략을 만들고 테스트를 자동화합니다. 셋째, 발견한 공격에 대응하는 방어 전략을 수립하고 검증합니다. 넷째, 결과를 실제 시스템 운영에 반영합니다. 예를 들어 입력 필터를 추가했다면, 원래 실패했던 요청을 다시 테스트해야 합니다. 모델과 사용 환경은 계속 바뀌기 때문에 한 번 검사하고 끝내는 절차로 보기는 어렵습니다. 위험을 찾고 개선한 뒤 재평가하는 순환 과정이라는 점이 핵심입니다.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공격 방법을 만들기 전에 무엇을 실패로 판단할지 정해야 합니다. 블로그는 다섯 가지 분류 기준을 소개합니다. 정책은 서비스가 지켜야 할 규칙입니다. 유해 유형은 어떤 피해가 생길지를 말합니다. 대상은 영향을 받는 개인이나 집단이며, 도메인은 과학이나 저작권처럼 문제가 발생하는 분야입니다. 마지막으로 시나리오는 실제 사용 상황을 뜻합니다. 같은 문장이라도 교육적 설명인지, 특정인을 해치려는 요청인지에 따라 평가가 달라질 수 있습니다. 따라서 위험을 하나의 점수로만 보기보다, 어떤 기준과 상황에서 발생했는지 함께 기록해야 개선 방향을 정하기 쉽습니다.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블로그 이미지 1은 언어 모델의 특성에 따라 공격 전략을 네 가지로 구분합니다. 완성 순응은 앞선 문맥을 이어 쓰려는 성질을 이용합니다. 지시 우회는 형식 변환이나 복잡한 지시 수행 과정에서 안전 규정을 우회하도록 유도합니다. 일반화 미끄러짐은 저자원 언어나 인코딩처럼 안전성 검증이 충분하지 않을 수 있는 표현을 이용합니다. 모델 조작은 디코딩 설정이나 가중치 등 모델 구성 요소를 바꾸는 방식입니다. 앞의 전략들은 주로 입력을 통해 모델의 행동을 유도하는 반면, 내부 가중치 조작에는 더 큰 접근 권한이 필요합니다. 이 분류는 구체적인 공격 절차보다 어떤 모델 특성이 취약점으로 이어지는지 이해하는 데 목적이 있습니다.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블로그 이미지 2의 왼쪽은 모델을 조정하는 학습 시점, 오른쪽은 서비스를 실행하는 추론 시점의 방어입니다. 학습 시점에는 미세 조정이나 사람의 피드백을 이용한 강화학습, 적대적 학습 등을 통해 유해 요청에 안전하게 대응하도록 학습합니다. 반면 추론 시점에는 입력 필터, 시스템 프롬프트, 출력 가드레일을 적용할 수 있습니다. 블로그는 이런 장치가 순차적으로 작동하는 방어 체계를 설명합니다. 두 방법 모두 비용과 한계가 있습니다. 학습 과정에서 안전성을 강화하면 유용성이 떨어지는 정렬 비용이 생길 수 있고, 추론 단계의 검사는 지연과 계산 비용을 늘릴 수 있습니다. 따라서 방어 장치를 넣었다는 사실뿐 아니라 안전성과 유용성이 함께 유지되는지 확인해야 합니다.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MART는 여러 라운드의 자동 레드팀을 통해 언어 모델의 안전성을 높이는 연구입니다. 적대적 모델은 안전 모델의 취약점을 드러내는 프롬프트를 생성하고, 안전 모델은 그 요청에 대한 응답을 만듭니다. 이후 응답을 평가한 결과를 다음 학습에 반영합니다. 적대적 모델은 공격에 성공한 사례를 활용해 새로운 공격을 찾고, 안전 모델은 안전한 응답 데이터를 이용해 대응 능력을 개선합니다. 블로그에 따르면 두 모델은 LLaMA 65B를 기반으로 초기화됩니다. 화면은 블로그의 이미지 3입니다. 왼쪽은 성공한 공격으로 적대적 모델을 학습하는 과정이고, 오른쪽은 안전한 응답을 이용해 안전 모델을 개선하는 과정입니다. 공격 문장을 많이 만드는 것만으로 끝나는 것이 아니라, 평가 결과가 다음 라운드의 학습으로 이어지는 점이 특징입니다.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블로그가 소개한 MART의 성능 평가 결과입니다. 왼쪽부터 SafeEval, HelpEval, Anthropic Harmless, AlpacaEval에 해당합니다. SafeEval과 HelpEval은 학습에 사용된 공격 자료와 가까운 분포에서 안전성과 유용성을 평가하고, 나머지 두 데이터셋은 다른 분포로의 일반화를 살펴봅니다. 반복 학습이 진행되면서 안전성 지표가 개선되고, 유용성 지표는 비교적 안정적으로 유지되는 경향을 볼 수 있습니다. 다만 그래프의 서로 다른 패널은 평가 기준이 같지 않으므로 점수의 절대 크기를 직접 비교해서는 안 됩니다. 또한 일부 벤치마크에서의 개선이 모든 공격에 대한 안전을 보장하지는 않습니다. 블로그 본문에는 유용성 패널을 b와 c로 적은 부분이 있지만 그림을 기준으로는 b와 d로 읽어야 합니다.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블로그가 소개하는 실제 적용 사례는 ChatEXAONE의 프롬프트 추천 기능입니다. 이 기능은 사용자의 직무와 대화 맥락에 맞는 후속 질문을 추천합니다. 그런데 사용자의 입력이 악의적이라면, 추천 기능이 그 의도를 이어 받아 부적절한 후속 질문을 만들 가능성이 있습니다. LG AI연구원은 이를 막기 위해 EXAONE 기반 자체 모델을 구축하는 단계에서 악의적인 프롬프트에 대응하는 학습을 진행했다고 설명합니다. 추론 단계에는 자체 안전 필터를 적용해 유해 콘텐츠를 감지하고 차단합니다. 이는 모델 학습과 서비스 운영에서 방어를 함께 적용한 사례입니다. 다만 블로그는 이 기능의 차단율이나 오탐률 등 정량적인 성능 수치를 제시하지는 않습니다.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살펴본 AI 레드팀은 생성형 AI의 실패 가능성을 의도적으로 찾아 개선하는 과정입니다. 위험을 정의하고 공격을 설계한 뒤, 방어를 적용하고 다시 평가하는 순환 구조가 핵심입니다. MART는 공격과 방어 모델의 반복 학습을 보여 주며, ChatEXAONE은 학습 시점과 추론 시점의 방어를 함께 적용한 서비스 사례입니다. 고급통계학습의 관점에서는 어떤 데이터 분포와 지표로 평가했는지, 안전성 향상 과정에서 유용성이 유지되는지가 중요합니다. 평가 자료에서 좋은 결과를 얻었더라도 새로운 상황에서는 실패할 수 있으므로, 지속적으로 점검하고 운영에 반영해야 합니다. 이상으로 발표를 마치겠습니다.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시 참고할 자료입니다. 발표의 직접적인 근거는 저장된 LG AI Research 블로그이며, MART와 레드팀 분류 논문은 해당 블로그의 참고문헌입니다. 이 발표는 2024년 글이 소개한 연구와 사례를 설명하며, 이후 제품이나 연구의 최신 상태를 평가하지 않습니다.</a:t>
            </a:r>
          </a:p>
          <a:p/>
          <a:p>
            <a:r>
              <a:t>자료: https://www.lgresearch.ai/blog/view?seq=496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01</a:t>
            </a:r>
          </a:p>
        </p:txBody>
      </p:sp>
      <p:sp>
        <p:nvSpPr>
          <p:cNvPr id="3" name="TextBox 2"/>
          <p:cNvSpPr txBox="1"/>
          <p:nvPr/>
        </p:nvSpPr>
        <p:spPr>
          <a:xfrm>
            <a:off x="609600" y="533400"/>
            <a:ext cx="8255000" cy="304800"/>
          </a:xfrm>
          <a:prstGeom prst="rect">
            <a:avLst/>
          </a:prstGeom>
          <a:noFill/>
        </p:spPr>
        <p:txBody>
          <a:bodyPr wrap="none" lIns="0" rIns="0" tIns="0" bIns="0">
            <a:spAutoFit/>
          </a:bodyPr>
          <a:lstStyle/>
          <a:p>
            <a:pPr>
              <a:lnSpc>
                <a:spcPct val="120000"/>
              </a:lnSpc>
              <a:spcBef>
                <a:spcPts val="0"/>
              </a:spcBef>
              <a:spcAft>
                <a:spcPts val="0"/>
              </a:spcAft>
              <a:defRPr sz="1200" b="0">
                <a:solidFill>
                  <a:srgbClr val="7A8A8E"/>
                </a:solidFill>
                <a:latin typeface="Noto Sans KR"/>
              </a:defRPr>
            </a:pPr>
            <a:r>
              <a:t>고급통계학습  중간대체 과제</a:t>
            </a:r>
          </a:p>
        </p:txBody>
      </p:sp>
      <p:sp>
        <p:nvSpPr>
          <p:cNvPr id="4" name="TextBox 3"/>
          <p:cNvSpPr txBox="1"/>
          <p:nvPr/>
        </p:nvSpPr>
        <p:spPr>
          <a:xfrm>
            <a:off x="609600" y="1714500"/>
            <a:ext cx="8255000" cy="1778000"/>
          </a:xfrm>
          <a:prstGeom prst="rect">
            <a:avLst/>
          </a:prstGeom>
          <a:noFill/>
        </p:spPr>
        <p:txBody>
          <a:bodyPr wrap="none" lIns="0" rIns="0" tIns="0" bIns="0">
            <a:spAutoFit/>
          </a:bodyPr>
          <a:lstStyle/>
          <a:p>
            <a:pPr>
              <a:lnSpc>
                <a:spcPct val="120000"/>
              </a:lnSpc>
              <a:spcBef>
                <a:spcPts val="0"/>
              </a:spcBef>
              <a:spcAft>
                <a:spcPts val="0"/>
              </a:spcAft>
              <a:defRPr sz="5800" b="1">
                <a:solidFill>
                  <a:srgbClr val="1C2C32"/>
                </a:solidFill>
                <a:latin typeface="Noto Sans KR"/>
              </a:defRPr>
            </a:pPr>
            <a:r>
              <a:t>AI Red</a:t>
            </a:r>
          </a:p>
          <a:p>
            <a:pPr>
              <a:lnSpc>
                <a:spcPct val="120000"/>
              </a:lnSpc>
              <a:spcBef>
                <a:spcPts val="0"/>
              </a:spcBef>
              <a:spcAft>
                <a:spcPts val="0"/>
              </a:spcAft>
              <a:defRPr sz="5800" b="1">
                <a:solidFill>
                  <a:srgbClr val="1C2C32"/>
                </a:solidFill>
                <a:latin typeface="Noto Sans KR"/>
              </a:defRPr>
            </a:pPr>
            <a:r>
              <a:t>Teaming</a:t>
            </a:r>
          </a:p>
        </p:txBody>
      </p:sp>
      <p:sp>
        <p:nvSpPr>
          <p:cNvPr id="5" name="TextBox 4"/>
          <p:cNvSpPr txBox="1"/>
          <p:nvPr/>
        </p:nvSpPr>
        <p:spPr>
          <a:xfrm>
            <a:off x="609600" y="4000500"/>
            <a:ext cx="8128000" cy="1016000"/>
          </a:xfrm>
          <a:prstGeom prst="rect">
            <a:avLst/>
          </a:prstGeom>
          <a:noFill/>
        </p:spPr>
        <p:txBody>
          <a:bodyPr wrap="none" lIns="0" rIns="0" tIns="0" bIns="0">
            <a:spAutoFit/>
          </a:bodyPr>
          <a:lstStyle/>
          <a:p>
            <a:pPr>
              <a:lnSpc>
                <a:spcPct val="120000"/>
              </a:lnSpc>
              <a:spcBef>
                <a:spcPts val="0"/>
              </a:spcBef>
              <a:spcAft>
                <a:spcPts val="0"/>
              </a:spcAft>
              <a:defRPr sz="2800" b="0">
                <a:solidFill>
                  <a:srgbClr val="1C2C32"/>
                </a:solidFill>
                <a:latin typeface="Noto Sans KR"/>
              </a:defRPr>
            </a:pPr>
            <a:r>
              <a:t>생성형 AI의 취약점을</a:t>
            </a:r>
          </a:p>
          <a:p>
            <a:pPr>
              <a:lnSpc>
                <a:spcPct val="120000"/>
              </a:lnSpc>
              <a:spcBef>
                <a:spcPts val="0"/>
              </a:spcBef>
              <a:spcAft>
                <a:spcPts val="0"/>
              </a:spcAft>
              <a:defRPr sz="2800" b="0">
                <a:solidFill>
                  <a:srgbClr val="1C2C32"/>
                </a:solidFill>
                <a:latin typeface="Noto Sans KR"/>
              </a:defRPr>
            </a:pPr>
            <a:r>
              <a:t>찾고 개선하는 방법</a:t>
            </a:r>
          </a:p>
        </p:txBody>
      </p:sp>
      <p:cxnSp>
        <p:nvCxnSpPr>
          <p:cNvPr id="6" name="Connector 5"/>
          <p:cNvCxnSpPr/>
          <p:nvPr/>
        </p:nvCxnSpPr>
        <p:spPr>
          <a:xfrm>
            <a:off x="8610600" y="1714500"/>
            <a:ext cx="0" cy="336550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017000" y="1841500"/>
            <a:ext cx="2794000" cy="952500"/>
          </a:xfrm>
          <a:prstGeom prst="rect">
            <a:avLst/>
          </a:prstGeom>
          <a:noFill/>
        </p:spPr>
        <p:txBody>
          <a:bodyPr wrap="none" lIns="0" rIns="0" tIns="0" bIns="0">
            <a:spAutoFit/>
          </a:bodyPr>
          <a:lstStyle/>
          <a:p>
            <a:pPr>
              <a:lnSpc>
                <a:spcPct val="120000"/>
              </a:lnSpc>
              <a:spcBef>
                <a:spcPts val="0"/>
              </a:spcBef>
              <a:spcAft>
                <a:spcPts val="0"/>
              </a:spcAft>
              <a:defRPr sz="1800" b="1">
                <a:solidFill>
                  <a:srgbClr val="1C2C32"/>
                </a:solidFill>
                <a:latin typeface="Noto Sans KR"/>
              </a:defRPr>
            </a:pPr>
            <a:r>
              <a:t>LG AI Research</a:t>
            </a:r>
          </a:p>
          <a:p>
            <a:pPr>
              <a:lnSpc>
                <a:spcPct val="120000"/>
              </a:lnSpc>
              <a:spcBef>
                <a:spcPts val="0"/>
              </a:spcBef>
              <a:spcAft>
                <a:spcPts val="0"/>
              </a:spcAft>
              <a:defRPr sz="1800" b="1">
                <a:solidFill>
                  <a:srgbClr val="1C2C32"/>
                </a:solidFill>
                <a:latin typeface="Noto Sans KR"/>
              </a:defRPr>
            </a:pPr>
            <a:r>
              <a:t>AI 윤리 세미나 ep.1</a:t>
            </a:r>
          </a:p>
        </p:txBody>
      </p:sp>
      <p:sp>
        <p:nvSpPr>
          <p:cNvPr id="8" name="TextBox 7"/>
          <p:cNvSpPr txBox="1"/>
          <p:nvPr/>
        </p:nvSpPr>
        <p:spPr>
          <a:xfrm>
            <a:off x="9017000" y="2984500"/>
            <a:ext cx="2794000" cy="635000"/>
          </a:xfrm>
          <a:prstGeom prst="rect">
            <a:avLst/>
          </a:prstGeom>
          <a:noFill/>
        </p:spPr>
        <p:txBody>
          <a:bodyPr wrap="none" lIns="0" rIns="0" tIns="0" bIns="0">
            <a:spAutoFit/>
          </a:bodyPr>
          <a:lstStyle/>
          <a:p>
            <a:pPr>
              <a:lnSpc>
                <a:spcPct val="120000"/>
              </a:lnSpc>
              <a:spcBef>
                <a:spcPts val="0"/>
              </a:spcBef>
              <a:spcAft>
                <a:spcPts val="0"/>
              </a:spcAft>
              <a:defRPr sz="1200" b="0">
                <a:solidFill>
                  <a:srgbClr val="7A8A8E"/>
                </a:solidFill>
                <a:latin typeface="Noto Sans KR"/>
              </a:defRPr>
            </a:pPr>
            <a:r>
              <a:t>2024. 11. 04. 기술 블로그</a:t>
            </a:r>
          </a:p>
        </p:txBody>
      </p:sp>
      <p:sp>
        <p:nvSpPr>
          <p:cNvPr id="9" name="TextBox 8"/>
          <p:cNvSpPr txBox="1"/>
          <p:nvPr/>
        </p:nvSpPr>
        <p:spPr>
          <a:xfrm>
            <a:off x="9017000" y="3848099"/>
            <a:ext cx="2794000" cy="1397000"/>
          </a:xfrm>
          <a:prstGeom prst="rect">
            <a:avLst/>
          </a:prstGeom>
          <a:noFill/>
        </p:spPr>
        <p:txBody>
          <a:bodyPr wrap="none" lIns="0" rIns="0" tIns="0" bIns="0">
            <a:spAutoFit/>
          </a:bodyPr>
          <a:lstStyle/>
          <a:p>
            <a:pPr>
              <a:lnSpc>
                <a:spcPct val="120000"/>
              </a:lnSpc>
              <a:spcBef>
                <a:spcPts val="0"/>
              </a:spcBef>
              <a:spcAft>
                <a:spcPts val="0"/>
              </a:spcAft>
              <a:defRPr sz="1800" b="0">
                <a:solidFill>
                  <a:srgbClr val="1C2C32"/>
                </a:solidFill>
                <a:latin typeface="Noto Sans KR"/>
              </a:defRPr>
            </a:pPr>
            <a:r>
              <a:t>개념과 전략</a:t>
            </a:r>
          </a:p>
          <a:p>
            <a:pPr>
              <a:lnSpc>
                <a:spcPct val="120000"/>
              </a:lnSpc>
              <a:spcBef>
                <a:spcPts val="0"/>
              </a:spcBef>
              <a:spcAft>
                <a:spcPts val="0"/>
              </a:spcAft>
              <a:defRPr sz="1800" b="0">
                <a:solidFill>
                  <a:srgbClr val="1C2C32"/>
                </a:solidFill>
                <a:latin typeface="Noto Sans KR"/>
              </a:defRPr>
            </a:pPr>
            <a:r>
              <a:t>MART 연구</a:t>
            </a:r>
          </a:p>
          <a:p>
            <a:pPr>
              <a:lnSpc>
                <a:spcPct val="120000"/>
              </a:lnSpc>
              <a:spcBef>
                <a:spcPts val="0"/>
              </a:spcBef>
              <a:spcAft>
                <a:spcPts val="0"/>
              </a:spcAft>
              <a:defRPr sz="1800" b="0">
                <a:solidFill>
                  <a:srgbClr val="1C2C32"/>
                </a:solidFill>
                <a:latin typeface="Noto Sans KR"/>
              </a:defRPr>
            </a:pPr>
            <a:r>
              <a:t>ChatEXAONE 사례</a:t>
            </a:r>
          </a:p>
        </p:txBody>
      </p:sp>
      <p:sp>
        <p:nvSpPr>
          <p:cNvPr id="10" name="TextBox 9"/>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202485-010007 김동현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02</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왜 AI Red Team이 필요한가</a:t>
            </a:r>
          </a:p>
        </p:txBody>
      </p:sp>
      <p:sp>
        <p:nvSpPr>
          <p:cNvPr id="4" name="TextBox 3"/>
          <p:cNvSpPr txBox="1"/>
          <p:nvPr/>
        </p:nvSpPr>
        <p:spPr>
          <a:xfrm>
            <a:off x="609600" y="1587500"/>
            <a:ext cx="5334000" cy="508000"/>
          </a:xfrm>
          <a:prstGeom prst="rect">
            <a:avLst/>
          </a:prstGeom>
          <a:noFill/>
        </p:spPr>
        <p:txBody>
          <a:bodyPr wrap="none" lIns="0" rIns="0" tIns="0" bIns="0">
            <a:spAutoFit/>
          </a:bodyPr>
          <a:lstStyle/>
          <a:p>
            <a:pPr>
              <a:lnSpc>
                <a:spcPct val="120000"/>
              </a:lnSpc>
              <a:spcBef>
                <a:spcPts val="0"/>
              </a:spcBef>
              <a:spcAft>
                <a:spcPts val="0"/>
              </a:spcAft>
              <a:defRPr sz="1700" b="0">
                <a:solidFill>
                  <a:srgbClr val="7A8A8E"/>
                </a:solidFill>
                <a:latin typeface="Noto Sans KR"/>
              </a:defRPr>
            </a:pPr>
            <a:r>
              <a:t>생성 능력이 커질수록</a:t>
            </a:r>
          </a:p>
        </p:txBody>
      </p:sp>
      <p:sp>
        <p:nvSpPr>
          <p:cNvPr id="5" name="TextBox 4"/>
          <p:cNvSpPr txBox="1"/>
          <p:nvPr/>
        </p:nvSpPr>
        <p:spPr>
          <a:xfrm>
            <a:off x="609600" y="2286000"/>
            <a:ext cx="5461000" cy="1905000"/>
          </a:xfrm>
          <a:prstGeom prst="rect">
            <a:avLst/>
          </a:prstGeom>
          <a:noFill/>
        </p:spPr>
        <p:txBody>
          <a:bodyPr wrap="none" lIns="0" rIns="0" tIns="0" bIns="0">
            <a:spAutoFit/>
          </a:bodyPr>
          <a:lstStyle/>
          <a:p>
            <a:pPr>
              <a:lnSpc>
                <a:spcPct val="120000"/>
              </a:lnSpc>
              <a:spcBef>
                <a:spcPts val="0"/>
              </a:spcBef>
              <a:spcAft>
                <a:spcPts val="0"/>
              </a:spcAft>
              <a:defRPr sz="3900" b="1">
                <a:solidFill>
                  <a:srgbClr val="1C2C32"/>
                </a:solidFill>
                <a:latin typeface="Noto Sans KR"/>
              </a:defRPr>
            </a:pPr>
            <a:r>
              <a:t>예상하지 못한</a:t>
            </a:r>
          </a:p>
          <a:p>
            <a:pPr>
              <a:lnSpc>
                <a:spcPct val="120000"/>
              </a:lnSpc>
              <a:spcBef>
                <a:spcPts val="0"/>
              </a:spcBef>
              <a:spcAft>
                <a:spcPts val="0"/>
              </a:spcAft>
              <a:defRPr sz="3900" b="1">
                <a:solidFill>
                  <a:srgbClr val="1C2C32"/>
                </a:solidFill>
                <a:latin typeface="Noto Sans KR"/>
              </a:defRPr>
            </a:pPr>
            <a:r>
              <a:t>실패도 점검</a:t>
            </a:r>
          </a:p>
        </p:txBody>
      </p:sp>
      <p:sp>
        <p:nvSpPr>
          <p:cNvPr id="6" name="TextBox 5"/>
          <p:cNvSpPr txBox="1"/>
          <p:nvPr/>
        </p:nvSpPr>
        <p:spPr>
          <a:xfrm>
            <a:off x="609600" y="4508500"/>
            <a:ext cx="5207000" cy="1016000"/>
          </a:xfrm>
          <a:prstGeom prst="rect">
            <a:avLst/>
          </a:prstGeom>
          <a:noFill/>
        </p:spPr>
        <p:txBody>
          <a:bodyPr wrap="none" lIns="0" rIns="0" tIns="0" bIns="0">
            <a:spAutoFit/>
          </a:bodyPr>
          <a:lstStyle/>
          <a:p>
            <a:pPr>
              <a:lnSpc>
                <a:spcPct val="120000"/>
              </a:lnSpc>
              <a:spcBef>
                <a:spcPts val="0"/>
              </a:spcBef>
              <a:spcAft>
                <a:spcPts val="0"/>
              </a:spcAft>
              <a:defRPr sz="2000" b="0">
                <a:solidFill>
                  <a:srgbClr val="1C2C32"/>
                </a:solidFill>
                <a:latin typeface="Noto Sans KR"/>
              </a:defRPr>
            </a:pPr>
            <a:r>
              <a:t>악의적 공격과 일반 사용자의</a:t>
            </a:r>
          </a:p>
          <a:p>
            <a:pPr>
              <a:lnSpc>
                <a:spcPct val="120000"/>
              </a:lnSpc>
              <a:spcBef>
                <a:spcPts val="0"/>
              </a:spcBef>
              <a:spcAft>
                <a:spcPts val="0"/>
              </a:spcAft>
              <a:defRPr sz="2000" b="0">
                <a:solidFill>
                  <a:srgbClr val="1C2C32"/>
                </a:solidFill>
                <a:latin typeface="Noto Sans KR"/>
              </a:defRPr>
            </a:pPr>
            <a:r>
              <a:t>상호작용을 함께 검토</a:t>
            </a:r>
          </a:p>
        </p:txBody>
      </p:sp>
      <p:sp>
        <p:nvSpPr>
          <p:cNvPr id="7" name="TextBox 6"/>
          <p:cNvSpPr txBox="1"/>
          <p:nvPr/>
        </p:nvSpPr>
        <p:spPr>
          <a:xfrm>
            <a:off x="6858000" y="1714500"/>
            <a:ext cx="4445000" cy="444500"/>
          </a:xfrm>
          <a:prstGeom prst="rect">
            <a:avLst/>
          </a:prstGeom>
          <a:noFill/>
        </p:spPr>
        <p:txBody>
          <a:bodyPr wrap="none" lIns="0" rIns="0" tIns="0" bIns="0">
            <a:spAutoFit/>
          </a:bodyPr>
          <a:lstStyle/>
          <a:p>
            <a:pPr>
              <a:lnSpc>
                <a:spcPct val="120000"/>
              </a:lnSpc>
              <a:spcBef>
                <a:spcPts val="0"/>
              </a:spcBef>
              <a:spcAft>
                <a:spcPts val="0"/>
              </a:spcAft>
              <a:defRPr sz="2300" b="1">
                <a:solidFill>
                  <a:srgbClr val="1C2C32"/>
                </a:solidFill>
                <a:latin typeface="Noto Sans KR"/>
              </a:defRPr>
            </a:pPr>
            <a:r>
              <a:t>유해 콘텐츠</a:t>
            </a:r>
          </a:p>
        </p:txBody>
      </p:sp>
      <p:sp>
        <p:nvSpPr>
          <p:cNvPr id="8" name="TextBox 7"/>
          <p:cNvSpPr txBox="1"/>
          <p:nvPr/>
        </p:nvSpPr>
        <p:spPr>
          <a:xfrm>
            <a:off x="6858000" y="2273300"/>
            <a:ext cx="4699000" cy="508000"/>
          </a:xfrm>
          <a:prstGeom prst="rect">
            <a:avLst/>
          </a:prstGeom>
          <a:noFill/>
        </p:spPr>
        <p:txBody>
          <a:bodyPr wrap="none" lIns="0" rIns="0" tIns="0" bIns="0">
            <a:spAutoFit/>
          </a:bodyPr>
          <a:lstStyle/>
          <a:p>
            <a:pPr>
              <a:lnSpc>
                <a:spcPct val="120000"/>
              </a:lnSpc>
              <a:spcBef>
                <a:spcPts val="0"/>
              </a:spcBef>
              <a:spcAft>
                <a:spcPts val="0"/>
              </a:spcAft>
              <a:defRPr sz="1800" b="0">
                <a:solidFill>
                  <a:srgbClr val="1C2C32"/>
                </a:solidFill>
                <a:latin typeface="Noto Sans KR"/>
              </a:defRPr>
            </a:pPr>
            <a:r>
              <a:t>부적절하거나 위험한 응답</a:t>
            </a:r>
          </a:p>
        </p:txBody>
      </p:sp>
      <p:cxnSp>
        <p:nvCxnSpPr>
          <p:cNvPr id="9" name="Connector 8"/>
          <p:cNvCxnSpPr/>
          <p:nvPr/>
        </p:nvCxnSpPr>
        <p:spPr>
          <a:xfrm>
            <a:off x="6858000" y="2832100"/>
            <a:ext cx="46990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0" y="3111500"/>
            <a:ext cx="4445000" cy="444500"/>
          </a:xfrm>
          <a:prstGeom prst="rect">
            <a:avLst/>
          </a:prstGeom>
          <a:noFill/>
        </p:spPr>
        <p:txBody>
          <a:bodyPr wrap="none" lIns="0" rIns="0" tIns="0" bIns="0">
            <a:spAutoFit/>
          </a:bodyPr>
          <a:lstStyle/>
          <a:p>
            <a:pPr>
              <a:lnSpc>
                <a:spcPct val="120000"/>
              </a:lnSpc>
              <a:spcBef>
                <a:spcPts val="0"/>
              </a:spcBef>
              <a:spcAft>
                <a:spcPts val="0"/>
              </a:spcAft>
              <a:defRPr sz="2300" b="1">
                <a:solidFill>
                  <a:srgbClr val="1C2C32"/>
                </a:solidFill>
                <a:latin typeface="Noto Sans KR"/>
              </a:defRPr>
            </a:pPr>
            <a:r>
              <a:t>공정성 문제</a:t>
            </a:r>
          </a:p>
        </p:txBody>
      </p:sp>
      <p:sp>
        <p:nvSpPr>
          <p:cNvPr id="11" name="TextBox 10"/>
          <p:cNvSpPr txBox="1"/>
          <p:nvPr/>
        </p:nvSpPr>
        <p:spPr>
          <a:xfrm>
            <a:off x="6858000" y="3670300"/>
            <a:ext cx="4699000" cy="508000"/>
          </a:xfrm>
          <a:prstGeom prst="rect">
            <a:avLst/>
          </a:prstGeom>
          <a:noFill/>
        </p:spPr>
        <p:txBody>
          <a:bodyPr wrap="none" lIns="0" rIns="0" tIns="0" bIns="0">
            <a:spAutoFit/>
          </a:bodyPr>
          <a:lstStyle/>
          <a:p>
            <a:pPr>
              <a:lnSpc>
                <a:spcPct val="120000"/>
              </a:lnSpc>
              <a:spcBef>
                <a:spcPts val="0"/>
              </a:spcBef>
              <a:spcAft>
                <a:spcPts val="0"/>
              </a:spcAft>
              <a:defRPr sz="1800" b="0">
                <a:solidFill>
                  <a:srgbClr val="1C2C32"/>
                </a:solidFill>
                <a:latin typeface="Noto Sans KR"/>
              </a:defRPr>
            </a:pPr>
            <a:r>
              <a:t>특정 집단에 불리한 결과</a:t>
            </a:r>
          </a:p>
        </p:txBody>
      </p:sp>
      <p:cxnSp>
        <p:nvCxnSpPr>
          <p:cNvPr id="12" name="Connector 11"/>
          <p:cNvCxnSpPr/>
          <p:nvPr/>
        </p:nvCxnSpPr>
        <p:spPr>
          <a:xfrm>
            <a:off x="6858000" y="4229100"/>
            <a:ext cx="46990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0" y="4508500"/>
            <a:ext cx="4445000" cy="444500"/>
          </a:xfrm>
          <a:prstGeom prst="rect">
            <a:avLst/>
          </a:prstGeom>
          <a:noFill/>
        </p:spPr>
        <p:txBody>
          <a:bodyPr wrap="none" lIns="0" rIns="0" tIns="0" bIns="0">
            <a:spAutoFit/>
          </a:bodyPr>
          <a:lstStyle/>
          <a:p>
            <a:pPr>
              <a:lnSpc>
                <a:spcPct val="120000"/>
              </a:lnSpc>
              <a:spcBef>
                <a:spcPts val="0"/>
              </a:spcBef>
              <a:spcAft>
                <a:spcPts val="0"/>
              </a:spcAft>
              <a:defRPr sz="2300" b="1">
                <a:solidFill>
                  <a:srgbClr val="1C2C32"/>
                </a:solidFill>
                <a:latin typeface="Noto Sans KR"/>
              </a:defRPr>
            </a:pPr>
            <a:r>
              <a:t>보안 위협</a:t>
            </a:r>
          </a:p>
        </p:txBody>
      </p:sp>
      <p:sp>
        <p:nvSpPr>
          <p:cNvPr id="14" name="TextBox 13"/>
          <p:cNvSpPr txBox="1"/>
          <p:nvPr/>
        </p:nvSpPr>
        <p:spPr>
          <a:xfrm>
            <a:off x="6858000" y="5067300"/>
            <a:ext cx="4699000" cy="508000"/>
          </a:xfrm>
          <a:prstGeom prst="rect">
            <a:avLst/>
          </a:prstGeom>
          <a:noFill/>
        </p:spPr>
        <p:txBody>
          <a:bodyPr wrap="none" lIns="0" rIns="0" tIns="0" bIns="0">
            <a:spAutoFit/>
          </a:bodyPr>
          <a:lstStyle/>
          <a:p>
            <a:pPr>
              <a:lnSpc>
                <a:spcPct val="120000"/>
              </a:lnSpc>
              <a:spcBef>
                <a:spcPts val="0"/>
              </a:spcBef>
              <a:spcAft>
                <a:spcPts val="0"/>
              </a:spcAft>
              <a:defRPr sz="1800" b="0">
                <a:solidFill>
                  <a:srgbClr val="1C2C32"/>
                </a:solidFill>
                <a:latin typeface="Noto Sans KR"/>
              </a:defRPr>
            </a:pPr>
            <a:r>
              <a:t>프롬프트 주입 · 데이터 중독</a:t>
            </a:r>
          </a:p>
        </p:txBody>
      </p:sp>
      <p:cxnSp>
        <p:nvCxnSpPr>
          <p:cNvPr id="15" name="Connector 14"/>
          <p:cNvCxnSpPr/>
          <p:nvPr/>
        </p:nvCxnSpPr>
        <p:spPr>
          <a:xfrm>
            <a:off x="6858000" y="5626100"/>
            <a:ext cx="46990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LG AI Research (2024), 도입부 · AI Red Team 개념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03</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위험 발견에서 운영 개선까지</a:t>
            </a:r>
          </a:p>
        </p:txBody>
      </p:sp>
      <p:sp>
        <p:nvSpPr>
          <p:cNvPr id="4" name="TextBox 3"/>
          <p:cNvSpPr txBox="1"/>
          <p:nvPr/>
        </p:nvSpPr>
        <p:spPr>
          <a:xfrm>
            <a:off x="609600" y="1422400"/>
            <a:ext cx="10795000" cy="444500"/>
          </a:xfrm>
          <a:prstGeom prst="rect">
            <a:avLst/>
          </a:prstGeom>
          <a:noFill/>
        </p:spPr>
        <p:txBody>
          <a:bodyPr wrap="none" lIns="0" rIns="0" tIns="0" bIns="0">
            <a:spAutoFit/>
          </a:bodyPr>
          <a:lstStyle/>
          <a:p>
            <a:pPr>
              <a:lnSpc>
                <a:spcPct val="120000"/>
              </a:lnSpc>
              <a:spcBef>
                <a:spcPts val="0"/>
              </a:spcBef>
              <a:spcAft>
                <a:spcPts val="0"/>
              </a:spcAft>
              <a:defRPr sz="1700" b="0">
                <a:solidFill>
                  <a:srgbClr val="7A8A8E"/>
                </a:solidFill>
                <a:latin typeface="Noto Sans KR"/>
              </a:defRPr>
            </a:pPr>
            <a:r>
              <a:t>한 번의 검사에서 끝나지 않는 개선 과정</a:t>
            </a:r>
          </a:p>
        </p:txBody>
      </p:sp>
      <p:sp>
        <p:nvSpPr>
          <p:cNvPr id="5" name="TextBox 4"/>
          <p:cNvSpPr txBox="1"/>
          <p:nvPr/>
        </p:nvSpPr>
        <p:spPr>
          <a:xfrm>
            <a:off x="609600" y="2476500"/>
            <a:ext cx="2540000" cy="317500"/>
          </a:xfrm>
          <a:prstGeom prst="rect">
            <a:avLst/>
          </a:prstGeom>
          <a:noFill/>
        </p:spPr>
        <p:txBody>
          <a:bodyPr wrap="none" lIns="0" rIns="0" tIns="0" bIns="0">
            <a:spAutoFit/>
          </a:bodyPr>
          <a:lstStyle/>
          <a:p>
            <a:pPr>
              <a:lnSpc>
                <a:spcPct val="120000"/>
              </a:lnSpc>
              <a:spcBef>
                <a:spcPts val="0"/>
              </a:spcBef>
              <a:spcAft>
                <a:spcPts val="0"/>
              </a:spcAft>
              <a:defRPr sz="1500" b="0">
                <a:solidFill>
                  <a:srgbClr val="7A8A8E"/>
                </a:solidFill>
                <a:latin typeface="Noto Sans KR"/>
              </a:defRPr>
            </a:pPr>
            <a:r>
              <a:t>01</a:t>
            </a:r>
          </a:p>
        </p:txBody>
      </p:sp>
      <p:cxnSp>
        <p:nvCxnSpPr>
          <p:cNvPr id="6" name="Connector 5"/>
          <p:cNvCxnSpPr/>
          <p:nvPr/>
        </p:nvCxnSpPr>
        <p:spPr>
          <a:xfrm>
            <a:off x="609600" y="2984500"/>
            <a:ext cx="24638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3365500"/>
            <a:ext cx="2540000" cy="571500"/>
          </a:xfrm>
          <a:prstGeom prst="rect">
            <a:avLst/>
          </a:prstGeom>
          <a:noFill/>
        </p:spPr>
        <p:txBody>
          <a:bodyPr wrap="none" lIns="0" rIns="0" tIns="0" bIns="0">
            <a:spAutoFit/>
          </a:bodyPr>
          <a:lstStyle/>
          <a:p>
            <a:pPr>
              <a:lnSpc>
                <a:spcPct val="120000"/>
              </a:lnSpc>
              <a:spcBef>
                <a:spcPts val="0"/>
              </a:spcBef>
              <a:spcAft>
                <a:spcPts val="0"/>
              </a:spcAft>
              <a:defRPr sz="2500" b="1">
                <a:solidFill>
                  <a:srgbClr val="1C2C32"/>
                </a:solidFill>
                <a:latin typeface="Noto Sans KR"/>
              </a:defRPr>
            </a:pPr>
            <a:r>
              <a:t>위험 식별</a:t>
            </a:r>
          </a:p>
        </p:txBody>
      </p:sp>
      <p:sp>
        <p:nvSpPr>
          <p:cNvPr id="8" name="TextBox 7"/>
          <p:cNvSpPr txBox="1"/>
          <p:nvPr/>
        </p:nvSpPr>
        <p:spPr>
          <a:xfrm>
            <a:off x="609600" y="4190999"/>
            <a:ext cx="2590800" cy="762000"/>
          </a:xfrm>
          <a:prstGeom prst="rect">
            <a:avLst/>
          </a:prstGeom>
          <a:noFill/>
        </p:spPr>
        <p:txBody>
          <a:bodyPr wrap="none" lIns="0" rIns="0" tIns="0" bIns="0">
            <a:spAutoFit/>
          </a:bodyPr>
          <a:lstStyle/>
          <a:p>
            <a:pPr>
              <a:lnSpc>
                <a:spcPct val="120000"/>
              </a:lnSpc>
              <a:spcBef>
                <a:spcPts val="0"/>
              </a:spcBef>
              <a:spcAft>
                <a:spcPts val="0"/>
              </a:spcAft>
              <a:defRPr sz="1600" b="0">
                <a:solidFill>
                  <a:srgbClr val="1C2C32"/>
                </a:solidFill>
                <a:latin typeface="Noto Sans KR"/>
              </a:defRPr>
            </a:pPr>
            <a:r>
              <a:t>무엇을 실패로 볼지 정의</a:t>
            </a:r>
          </a:p>
        </p:txBody>
      </p:sp>
      <p:sp>
        <p:nvSpPr>
          <p:cNvPr id="9" name="TextBox 8"/>
          <p:cNvSpPr txBox="1"/>
          <p:nvPr/>
        </p:nvSpPr>
        <p:spPr>
          <a:xfrm>
            <a:off x="3429000" y="2476500"/>
            <a:ext cx="2540000" cy="317500"/>
          </a:xfrm>
          <a:prstGeom prst="rect">
            <a:avLst/>
          </a:prstGeom>
          <a:noFill/>
        </p:spPr>
        <p:txBody>
          <a:bodyPr wrap="none" lIns="0" rIns="0" tIns="0" bIns="0">
            <a:spAutoFit/>
          </a:bodyPr>
          <a:lstStyle/>
          <a:p>
            <a:pPr>
              <a:lnSpc>
                <a:spcPct val="120000"/>
              </a:lnSpc>
              <a:spcBef>
                <a:spcPts val="0"/>
              </a:spcBef>
              <a:spcAft>
                <a:spcPts val="0"/>
              </a:spcAft>
              <a:defRPr sz="1500" b="0">
                <a:solidFill>
                  <a:srgbClr val="7A8A8E"/>
                </a:solidFill>
                <a:latin typeface="Noto Sans KR"/>
              </a:defRPr>
            </a:pPr>
            <a:r>
              <a:t>02</a:t>
            </a:r>
          </a:p>
        </p:txBody>
      </p:sp>
      <p:cxnSp>
        <p:nvCxnSpPr>
          <p:cNvPr id="10" name="Connector 9"/>
          <p:cNvCxnSpPr/>
          <p:nvPr/>
        </p:nvCxnSpPr>
        <p:spPr>
          <a:xfrm>
            <a:off x="3429000" y="2984500"/>
            <a:ext cx="24638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429000" y="3365500"/>
            <a:ext cx="2540000" cy="571500"/>
          </a:xfrm>
          <a:prstGeom prst="rect">
            <a:avLst/>
          </a:prstGeom>
          <a:noFill/>
        </p:spPr>
        <p:txBody>
          <a:bodyPr wrap="none" lIns="0" rIns="0" tIns="0" bIns="0">
            <a:spAutoFit/>
          </a:bodyPr>
          <a:lstStyle/>
          <a:p>
            <a:pPr>
              <a:lnSpc>
                <a:spcPct val="120000"/>
              </a:lnSpc>
              <a:spcBef>
                <a:spcPts val="0"/>
              </a:spcBef>
              <a:spcAft>
                <a:spcPts val="0"/>
              </a:spcAft>
              <a:defRPr sz="2500" b="1">
                <a:solidFill>
                  <a:srgbClr val="1C2C32"/>
                </a:solidFill>
                <a:latin typeface="Noto Sans KR"/>
              </a:defRPr>
            </a:pPr>
            <a:r>
              <a:t>공격 개발</a:t>
            </a:r>
          </a:p>
        </p:txBody>
      </p:sp>
      <p:sp>
        <p:nvSpPr>
          <p:cNvPr id="12" name="TextBox 11"/>
          <p:cNvSpPr txBox="1"/>
          <p:nvPr/>
        </p:nvSpPr>
        <p:spPr>
          <a:xfrm>
            <a:off x="3429000" y="4190999"/>
            <a:ext cx="2590800" cy="762000"/>
          </a:xfrm>
          <a:prstGeom prst="rect">
            <a:avLst/>
          </a:prstGeom>
          <a:noFill/>
        </p:spPr>
        <p:txBody>
          <a:bodyPr wrap="none" lIns="0" rIns="0" tIns="0" bIns="0">
            <a:spAutoFit/>
          </a:bodyPr>
          <a:lstStyle/>
          <a:p>
            <a:pPr>
              <a:lnSpc>
                <a:spcPct val="120000"/>
              </a:lnSpc>
              <a:spcBef>
                <a:spcPts val="0"/>
              </a:spcBef>
              <a:spcAft>
                <a:spcPts val="0"/>
              </a:spcAft>
              <a:defRPr sz="1600" b="0">
                <a:solidFill>
                  <a:srgbClr val="1C2C32"/>
                </a:solidFill>
                <a:latin typeface="Noto Sans KR"/>
              </a:defRPr>
            </a:pPr>
            <a:r>
              <a:t>취약한 상황을 재현</a:t>
            </a:r>
          </a:p>
        </p:txBody>
      </p:sp>
      <p:sp>
        <p:nvSpPr>
          <p:cNvPr id="13" name="TextBox 12"/>
          <p:cNvSpPr txBox="1"/>
          <p:nvPr/>
        </p:nvSpPr>
        <p:spPr>
          <a:xfrm>
            <a:off x="6248400" y="2476500"/>
            <a:ext cx="2540000" cy="317500"/>
          </a:xfrm>
          <a:prstGeom prst="rect">
            <a:avLst/>
          </a:prstGeom>
          <a:noFill/>
        </p:spPr>
        <p:txBody>
          <a:bodyPr wrap="none" lIns="0" rIns="0" tIns="0" bIns="0">
            <a:spAutoFit/>
          </a:bodyPr>
          <a:lstStyle/>
          <a:p>
            <a:pPr>
              <a:lnSpc>
                <a:spcPct val="120000"/>
              </a:lnSpc>
              <a:spcBef>
                <a:spcPts val="0"/>
              </a:spcBef>
              <a:spcAft>
                <a:spcPts val="0"/>
              </a:spcAft>
              <a:defRPr sz="1500" b="0">
                <a:solidFill>
                  <a:srgbClr val="7A8A8E"/>
                </a:solidFill>
                <a:latin typeface="Noto Sans KR"/>
              </a:defRPr>
            </a:pPr>
            <a:r>
              <a:t>03</a:t>
            </a:r>
          </a:p>
        </p:txBody>
      </p:sp>
      <p:cxnSp>
        <p:nvCxnSpPr>
          <p:cNvPr id="14" name="Connector 13"/>
          <p:cNvCxnSpPr/>
          <p:nvPr/>
        </p:nvCxnSpPr>
        <p:spPr>
          <a:xfrm>
            <a:off x="6248400" y="2984500"/>
            <a:ext cx="24638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48400" y="3365500"/>
            <a:ext cx="2540000" cy="571500"/>
          </a:xfrm>
          <a:prstGeom prst="rect">
            <a:avLst/>
          </a:prstGeom>
          <a:noFill/>
        </p:spPr>
        <p:txBody>
          <a:bodyPr wrap="none" lIns="0" rIns="0" tIns="0" bIns="0">
            <a:spAutoFit/>
          </a:bodyPr>
          <a:lstStyle/>
          <a:p>
            <a:pPr>
              <a:lnSpc>
                <a:spcPct val="120000"/>
              </a:lnSpc>
              <a:spcBef>
                <a:spcPts val="0"/>
              </a:spcBef>
              <a:spcAft>
                <a:spcPts val="0"/>
              </a:spcAft>
              <a:defRPr sz="2500" b="1">
                <a:solidFill>
                  <a:srgbClr val="1C2C32"/>
                </a:solidFill>
                <a:latin typeface="Noto Sans KR"/>
              </a:defRPr>
            </a:pPr>
            <a:r>
              <a:t>방어 검증</a:t>
            </a:r>
          </a:p>
        </p:txBody>
      </p:sp>
      <p:sp>
        <p:nvSpPr>
          <p:cNvPr id="16" name="TextBox 15"/>
          <p:cNvSpPr txBox="1"/>
          <p:nvPr/>
        </p:nvSpPr>
        <p:spPr>
          <a:xfrm>
            <a:off x="6248400" y="4190999"/>
            <a:ext cx="2590800" cy="762000"/>
          </a:xfrm>
          <a:prstGeom prst="rect">
            <a:avLst/>
          </a:prstGeom>
          <a:noFill/>
        </p:spPr>
        <p:txBody>
          <a:bodyPr wrap="none" lIns="0" rIns="0" tIns="0" bIns="0">
            <a:spAutoFit/>
          </a:bodyPr>
          <a:lstStyle/>
          <a:p>
            <a:pPr>
              <a:lnSpc>
                <a:spcPct val="120000"/>
              </a:lnSpc>
              <a:spcBef>
                <a:spcPts val="0"/>
              </a:spcBef>
              <a:spcAft>
                <a:spcPts val="0"/>
              </a:spcAft>
              <a:defRPr sz="1600" b="0">
                <a:solidFill>
                  <a:srgbClr val="1C2C32"/>
                </a:solidFill>
                <a:latin typeface="Noto Sans KR"/>
              </a:defRPr>
            </a:pPr>
            <a:r>
              <a:t>대응 방법의 효과 평가</a:t>
            </a:r>
          </a:p>
        </p:txBody>
      </p:sp>
      <p:sp>
        <p:nvSpPr>
          <p:cNvPr id="17" name="TextBox 16"/>
          <p:cNvSpPr txBox="1"/>
          <p:nvPr/>
        </p:nvSpPr>
        <p:spPr>
          <a:xfrm>
            <a:off x="9067800" y="2476500"/>
            <a:ext cx="2540000" cy="317500"/>
          </a:xfrm>
          <a:prstGeom prst="rect">
            <a:avLst/>
          </a:prstGeom>
          <a:noFill/>
        </p:spPr>
        <p:txBody>
          <a:bodyPr wrap="none" lIns="0" rIns="0" tIns="0" bIns="0">
            <a:spAutoFit/>
          </a:bodyPr>
          <a:lstStyle/>
          <a:p>
            <a:pPr>
              <a:lnSpc>
                <a:spcPct val="120000"/>
              </a:lnSpc>
              <a:spcBef>
                <a:spcPts val="0"/>
              </a:spcBef>
              <a:spcAft>
                <a:spcPts val="0"/>
              </a:spcAft>
              <a:defRPr sz="1500" b="0">
                <a:solidFill>
                  <a:srgbClr val="7A8A8E"/>
                </a:solidFill>
                <a:latin typeface="Noto Sans KR"/>
              </a:defRPr>
            </a:pPr>
            <a:r>
              <a:t>04</a:t>
            </a:r>
          </a:p>
        </p:txBody>
      </p:sp>
      <p:cxnSp>
        <p:nvCxnSpPr>
          <p:cNvPr id="18" name="Connector 17"/>
          <p:cNvCxnSpPr/>
          <p:nvPr/>
        </p:nvCxnSpPr>
        <p:spPr>
          <a:xfrm>
            <a:off x="9067800" y="2984500"/>
            <a:ext cx="24638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067800" y="3365500"/>
            <a:ext cx="2540000" cy="571500"/>
          </a:xfrm>
          <a:prstGeom prst="rect">
            <a:avLst/>
          </a:prstGeom>
          <a:noFill/>
        </p:spPr>
        <p:txBody>
          <a:bodyPr wrap="none" lIns="0" rIns="0" tIns="0" bIns="0">
            <a:spAutoFit/>
          </a:bodyPr>
          <a:lstStyle/>
          <a:p>
            <a:pPr>
              <a:lnSpc>
                <a:spcPct val="120000"/>
              </a:lnSpc>
              <a:spcBef>
                <a:spcPts val="0"/>
              </a:spcBef>
              <a:spcAft>
                <a:spcPts val="0"/>
              </a:spcAft>
              <a:defRPr sz="2500" b="1">
                <a:solidFill>
                  <a:srgbClr val="1C2C32"/>
                </a:solidFill>
                <a:latin typeface="Noto Sans KR"/>
              </a:defRPr>
            </a:pPr>
            <a:r>
              <a:t>운영 개선</a:t>
            </a:r>
          </a:p>
        </p:txBody>
      </p:sp>
      <p:sp>
        <p:nvSpPr>
          <p:cNvPr id="20" name="TextBox 19"/>
          <p:cNvSpPr txBox="1"/>
          <p:nvPr/>
        </p:nvSpPr>
        <p:spPr>
          <a:xfrm>
            <a:off x="9067800" y="4190999"/>
            <a:ext cx="2590800" cy="762000"/>
          </a:xfrm>
          <a:prstGeom prst="rect">
            <a:avLst/>
          </a:prstGeom>
          <a:noFill/>
        </p:spPr>
        <p:txBody>
          <a:bodyPr wrap="none" lIns="0" rIns="0" tIns="0" bIns="0">
            <a:spAutoFit/>
          </a:bodyPr>
          <a:lstStyle/>
          <a:p>
            <a:pPr>
              <a:lnSpc>
                <a:spcPct val="120000"/>
              </a:lnSpc>
              <a:spcBef>
                <a:spcPts val="0"/>
              </a:spcBef>
              <a:spcAft>
                <a:spcPts val="0"/>
              </a:spcAft>
              <a:defRPr sz="1600" b="0">
                <a:solidFill>
                  <a:srgbClr val="1C2C32"/>
                </a:solidFill>
                <a:latin typeface="Noto Sans KR"/>
              </a:defRPr>
            </a:pPr>
            <a:r>
              <a:t>결과를 서비스에 반영</a:t>
            </a:r>
          </a:p>
        </p:txBody>
      </p:sp>
      <p:sp>
        <p:nvSpPr>
          <p:cNvPr id="21" name="Rectangle 20"/>
          <p:cNvSpPr/>
          <p:nvPr/>
        </p:nvSpPr>
        <p:spPr>
          <a:xfrm>
            <a:off x="609600" y="5334000"/>
            <a:ext cx="10947400" cy="609600"/>
          </a:xfrm>
          <a:prstGeom prst="rect">
            <a:avLst/>
          </a:prstGeom>
          <a:solidFill>
            <a:srgbClr val="EFF7F5"/>
          </a:solidFill>
          <a:ln>
            <a:solidFill>
              <a:srgbClr val="D4DF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000" y="5478780"/>
            <a:ext cx="10642600" cy="609600"/>
          </a:xfrm>
          <a:prstGeom prst="rect">
            <a:avLst/>
          </a:prstGeom>
          <a:noFill/>
        </p:spPr>
        <p:txBody>
          <a:bodyPr wrap="none" lIns="0" rIns="0" tIns="0" bIns="0">
            <a:spAutoFit/>
          </a:bodyPr>
          <a:lstStyle/>
          <a:p>
            <a:pPr>
              <a:lnSpc>
                <a:spcPct val="120000"/>
              </a:lnSpc>
              <a:spcBef>
                <a:spcPts val="0"/>
              </a:spcBef>
              <a:spcAft>
                <a:spcPts val="0"/>
              </a:spcAft>
              <a:defRPr sz="2100" b="1">
                <a:solidFill>
                  <a:srgbClr val="1C2C32"/>
                </a:solidFill>
                <a:latin typeface="Noto Sans KR"/>
              </a:defRPr>
            </a:pPr>
            <a:r>
              <a:t>위험 정의 → 공격 → 방어 → 운영 → 다시 평가</a:t>
            </a:r>
          </a:p>
        </p:txBody>
      </p:sp>
      <p:sp>
        <p:nvSpPr>
          <p:cNvPr id="23" name="TextBox 22"/>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§1. AI Red Team의 개념 · 원문 참고문헌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04</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무엇을 위험으로 볼 것인가</a:t>
            </a:r>
          </a:p>
        </p:txBody>
      </p:sp>
      <p:sp>
        <p:nvSpPr>
          <p:cNvPr id="4" name="TextBox 3"/>
          <p:cNvSpPr txBox="1"/>
          <p:nvPr/>
        </p:nvSpPr>
        <p:spPr>
          <a:xfrm>
            <a:off x="609600" y="1422400"/>
            <a:ext cx="10668000" cy="444500"/>
          </a:xfrm>
          <a:prstGeom prst="rect">
            <a:avLst/>
          </a:prstGeom>
          <a:noFill/>
        </p:spPr>
        <p:txBody>
          <a:bodyPr wrap="none" lIns="0" rIns="0" tIns="0" bIns="0">
            <a:spAutoFit/>
          </a:bodyPr>
          <a:lstStyle/>
          <a:p>
            <a:pPr>
              <a:lnSpc>
                <a:spcPct val="120000"/>
              </a:lnSpc>
              <a:spcBef>
                <a:spcPts val="0"/>
              </a:spcBef>
              <a:spcAft>
                <a:spcPts val="0"/>
              </a:spcAft>
              <a:defRPr sz="1700" b="0">
                <a:solidFill>
                  <a:srgbClr val="7A8A8E"/>
                </a:solidFill>
                <a:latin typeface="Noto Sans KR"/>
              </a:defRPr>
            </a:pPr>
            <a:r>
              <a:t>위험을 여러 기준으로 나누어 평가</a:t>
            </a:r>
          </a:p>
        </p:txBody>
      </p:sp>
      <p:sp>
        <p:nvSpPr>
          <p:cNvPr id="5" name="TextBox 4"/>
          <p:cNvSpPr txBox="1"/>
          <p:nvPr/>
        </p:nvSpPr>
        <p:spPr>
          <a:xfrm>
            <a:off x="609600" y="2159000"/>
            <a:ext cx="889000" cy="3810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01</a:t>
            </a:r>
          </a:p>
        </p:txBody>
      </p:sp>
      <p:sp>
        <p:nvSpPr>
          <p:cNvPr id="6" name="TextBox 5"/>
          <p:cNvSpPr txBox="1"/>
          <p:nvPr/>
        </p:nvSpPr>
        <p:spPr>
          <a:xfrm>
            <a:off x="1587500" y="2159000"/>
            <a:ext cx="2794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정책</a:t>
            </a:r>
          </a:p>
        </p:txBody>
      </p:sp>
      <p:sp>
        <p:nvSpPr>
          <p:cNvPr id="7" name="TextBox 6"/>
          <p:cNvSpPr txBox="1"/>
          <p:nvPr/>
        </p:nvSpPr>
        <p:spPr>
          <a:xfrm>
            <a:off x="4826000" y="2159000"/>
            <a:ext cx="6477000" cy="444500"/>
          </a:xfrm>
          <a:prstGeom prst="rect">
            <a:avLst/>
          </a:prstGeom>
          <a:noFill/>
        </p:spPr>
        <p:txBody>
          <a:bodyPr wrap="none" lIns="0" rIns="0" tIns="0" bIns="0">
            <a:spAutoFit/>
          </a:bodyPr>
          <a:lstStyle/>
          <a:p>
            <a:pPr>
              <a:lnSpc>
                <a:spcPct val="120000"/>
              </a:lnSpc>
              <a:spcBef>
                <a:spcPts val="0"/>
              </a:spcBef>
              <a:spcAft>
                <a:spcPts val="0"/>
              </a:spcAft>
              <a:defRPr sz="2000" b="0">
                <a:solidFill>
                  <a:srgbClr val="1C2C32"/>
                </a:solidFill>
                <a:latin typeface="Noto Sans KR"/>
              </a:defRPr>
            </a:pPr>
            <a:r>
              <a:t>서비스가 지켜야 할 규칙</a:t>
            </a:r>
          </a:p>
        </p:txBody>
      </p:sp>
      <p:cxnSp>
        <p:nvCxnSpPr>
          <p:cNvPr id="8" name="Connector 7"/>
          <p:cNvCxnSpPr/>
          <p:nvPr/>
        </p:nvCxnSpPr>
        <p:spPr>
          <a:xfrm>
            <a:off x="1587500" y="2730500"/>
            <a:ext cx="9969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2895600"/>
            <a:ext cx="889000" cy="3810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02</a:t>
            </a:r>
          </a:p>
        </p:txBody>
      </p:sp>
      <p:sp>
        <p:nvSpPr>
          <p:cNvPr id="10" name="TextBox 9"/>
          <p:cNvSpPr txBox="1"/>
          <p:nvPr/>
        </p:nvSpPr>
        <p:spPr>
          <a:xfrm>
            <a:off x="1587500" y="2895600"/>
            <a:ext cx="2794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유해 유형</a:t>
            </a:r>
          </a:p>
        </p:txBody>
      </p:sp>
      <p:sp>
        <p:nvSpPr>
          <p:cNvPr id="11" name="TextBox 10"/>
          <p:cNvSpPr txBox="1"/>
          <p:nvPr/>
        </p:nvSpPr>
        <p:spPr>
          <a:xfrm>
            <a:off x="4826000" y="2895600"/>
            <a:ext cx="6477000" cy="444500"/>
          </a:xfrm>
          <a:prstGeom prst="rect">
            <a:avLst/>
          </a:prstGeom>
          <a:noFill/>
        </p:spPr>
        <p:txBody>
          <a:bodyPr wrap="none" lIns="0" rIns="0" tIns="0" bIns="0">
            <a:spAutoFit/>
          </a:bodyPr>
          <a:lstStyle/>
          <a:p>
            <a:pPr>
              <a:lnSpc>
                <a:spcPct val="120000"/>
              </a:lnSpc>
              <a:spcBef>
                <a:spcPts val="0"/>
              </a:spcBef>
              <a:spcAft>
                <a:spcPts val="0"/>
              </a:spcAft>
              <a:defRPr sz="2000" b="0">
                <a:solidFill>
                  <a:srgbClr val="1C2C32"/>
                </a:solidFill>
                <a:latin typeface="Noto Sans KR"/>
              </a:defRPr>
            </a:pPr>
            <a:r>
              <a:t>발생할 수 있는 피해의 종류</a:t>
            </a:r>
          </a:p>
        </p:txBody>
      </p:sp>
      <p:cxnSp>
        <p:nvCxnSpPr>
          <p:cNvPr id="12" name="Connector 11"/>
          <p:cNvCxnSpPr/>
          <p:nvPr/>
        </p:nvCxnSpPr>
        <p:spPr>
          <a:xfrm>
            <a:off x="1587500" y="3467100"/>
            <a:ext cx="9969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3632200"/>
            <a:ext cx="889000" cy="3810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03</a:t>
            </a:r>
          </a:p>
        </p:txBody>
      </p:sp>
      <p:sp>
        <p:nvSpPr>
          <p:cNvPr id="14" name="TextBox 13"/>
          <p:cNvSpPr txBox="1"/>
          <p:nvPr/>
        </p:nvSpPr>
        <p:spPr>
          <a:xfrm>
            <a:off x="1587500" y="3632200"/>
            <a:ext cx="2794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대상</a:t>
            </a:r>
          </a:p>
        </p:txBody>
      </p:sp>
      <p:sp>
        <p:nvSpPr>
          <p:cNvPr id="15" name="TextBox 14"/>
          <p:cNvSpPr txBox="1"/>
          <p:nvPr/>
        </p:nvSpPr>
        <p:spPr>
          <a:xfrm>
            <a:off x="4826000" y="3632200"/>
            <a:ext cx="6477000" cy="444500"/>
          </a:xfrm>
          <a:prstGeom prst="rect">
            <a:avLst/>
          </a:prstGeom>
          <a:noFill/>
        </p:spPr>
        <p:txBody>
          <a:bodyPr wrap="none" lIns="0" rIns="0" tIns="0" bIns="0">
            <a:spAutoFit/>
          </a:bodyPr>
          <a:lstStyle/>
          <a:p>
            <a:pPr>
              <a:lnSpc>
                <a:spcPct val="120000"/>
              </a:lnSpc>
              <a:spcBef>
                <a:spcPts val="0"/>
              </a:spcBef>
              <a:spcAft>
                <a:spcPts val="0"/>
              </a:spcAft>
              <a:defRPr sz="2000" b="0">
                <a:solidFill>
                  <a:srgbClr val="1C2C32"/>
                </a:solidFill>
                <a:latin typeface="Noto Sans KR"/>
              </a:defRPr>
            </a:pPr>
            <a:r>
              <a:t>영향을 받는 개인 · 집단</a:t>
            </a:r>
          </a:p>
        </p:txBody>
      </p:sp>
      <p:cxnSp>
        <p:nvCxnSpPr>
          <p:cNvPr id="16" name="Connector 15"/>
          <p:cNvCxnSpPr/>
          <p:nvPr/>
        </p:nvCxnSpPr>
        <p:spPr>
          <a:xfrm>
            <a:off x="1587500" y="4203700"/>
            <a:ext cx="9969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4368800"/>
            <a:ext cx="889000" cy="3810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04</a:t>
            </a:r>
          </a:p>
        </p:txBody>
      </p:sp>
      <p:sp>
        <p:nvSpPr>
          <p:cNvPr id="18" name="TextBox 17"/>
          <p:cNvSpPr txBox="1"/>
          <p:nvPr/>
        </p:nvSpPr>
        <p:spPr>
          <a:xfrm>
            <a:off x="1587500" y="4368800"/>
            <a:ext cx="2794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도메인</a:t>
            </a:r>
          </a:p>
        </p:txBody>
      </p:sp>
      <p:sp>
        <p:nvSpPr>
          <p:cNvPr id="19" name="TextBox 18"/>
          <p:cNvSpPr txBox="1"/>
          <p:nvPr/>
        </p:nvSpPr>
        <p:spPr>
          <a:xfrm>
            <a:off x="4826000" y="4368800"/>
            <a:ext cx="6477000" cy="444500"/>
          </a:xfrm>
          <a:prstGeom prst="rect">
            <a:avLst/>
          </a:prstGeom>
          <a:noFill/>
        </p:spPr>
        <p:txBody>
          <a:bodyPr wrap="none" lIns="0" rIns="0" tIns="0" bIns="0">
            <a:spAutoFit/>
          </a:bodyPr>
          <a:lstStyle/>
          <a:p>
            <a:pPr>
              <a:lnSpc>
                <a:spcPct val="120000"/>
              </a:lnSpc>
              <a:spcBef>
                <a:spcPts val="0"/>
              </a:spcBef>
              <a:spcAft>
                <a:spcPts val="0"/>
              </a:spcAft>
              <a:defRPr sz="2000" b="0">
                <a:solidFill>
                  <a:srgbClr val="1C2C32"/>
                </a:solidFill>
                <a:latin typeface="Noto Sans KR"/>
              </a:defRPr>
            </a:pPr>
            <a:r>
              <a:t>과학 · 저작권 · 윤리 등 분야</a:t>
            </a:r>
          </a:p>
        </p:txBody>
      </p:sp>
      <p:cxnSp>
        <p:nvCxnSpPr>
          <p:cNvPr id="20" name="Connector 19"/>
          <p:cNvCxnSpPr/>
          <p:nvPr/>
        </p:nvCxnSpPr>
        <p:spPr>
          <a:xfrm>
            <a:off x="1587500" y="4940300"/>
            <a:ext cx="9969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9600" y="5105400"/>
            <a:ext cx="889000" cy="3810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05</a:t>
            </a:r>
          </a:p>
        </p:txBody>
      </p:sp>
      <p:sp>
        <p:nvSpPr>
          <p:cNvPr id="22" name="TextBox 21"/>
          <p:cNvSpPr txBox="1"/>
          <p:nvPr/>
        </p:nvSpPr>
        <p:spPr>
          <a:xfrm>
            <a:off x="1587500" y="5105400"/>
            <a:ext cx="2794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시나리오</a:t>
            </a:r>
          </a:p>
        </p:txBody>
      </p:sp>
      <p:sp>
        <p:nvSpPr>
          <p:cNvPr id="23" name="TextBox 22"/>
          <p:cNvSpPr txBox="1"/>
          <p:nvPr/>
        </p:nvSpPr>
        <p:spPr>
          <a:xfrm>
            <a:off x="4826000" y="5105400"/>
            <a:ext cx="6477000" cy="444500"/>
          </a:xfrm>
          <a:prstGeom prst="rect">
            <a:avLst/>
          </a:prstGeom>
          <a:noFill/>
        </p:spPr>
        <p:txBody>
          <a:bodyPr wrap="none" lIns="0" rIns="0" tIns="0" bIns="0">
            <a:spAutoFit/>
          </a:bodyPr>
          <a:lstStyle/>
          <a:p>
            <a:pPr>
              <a:lnSpc>
                <a:spcPct val="120000"/>
              </a:lnSpc>
              <a:spcBef>
                <a:spcPts val="0"/>
              </a:spcBef>
              <a:spcAft>
                <a:spcPts val="0"/>
              </a:spcAft>
              <a:defRPr sz="2000" b="0">
                <a:solidFill>
                  <a:srgbClr val="1C2C32"/>
                </a:solidFill>
                <a:latin typeface="Noto Sans KR"/>
              </a:defRPr>
            </a:pPr>
            <a:r>
              <a:t>실제 사용에서 예상되는 상황</a:t>
            </a:r>
          </a:p>
        </p:txBody>
      </p:sp>
      <p:cxnSp>
        <p:nvCxnSpPr>
          <p:cNvPr id="24" name="Connector 23"/>
          <p:cNvCxnSpPr/>
          <p:nvPr/>
        </p:nvCxnSpPr>
        <p:spPr>
          <a:xfrm>
            <a:off x="1587500" y="5676900"/>
            <a:ext cx="9969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§1-(1) 위험 분류 및 식별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05</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언어 모델을 겨냥한 네 가지 공격 전략</a:t>
            </a:r>
          </a:p>
        </p:txBody>
      </p:sp>
      <p:sp>
        <p:nvSpPr>
          <p:cNvPr id="4" name="TextBox 3"/>
          <p:cNvSpPr txBox="1"/>
          <p:nvPr/>
        </p:nvSpPr>
        <p:spPr>
          <a:xfrm>
            <a:off x="609600" y="1346200"/>
            <a:ext cx="10922000" cy="444500"/>
          </a:xfrm>
          <a:prstGeom prst="rect">
            <a:avLst/>
          </a:prstGeom>
          <a:noFill/>
        </p:spPr>
        <p:txBody>
          <a:bodyPr wrap="none" lIns="0" rIns="0" tIns="0" bIns="0">
            <a:spAutoFit/>
          </a:bodyPr>
          <a:lstStyle/>
          <a:p>
            <a:pPr>
              <a:lnSpc>
                <a:spcPct val="120000"/>
              </a:lnSpc>
              <a:spcBef>
                <a:spcPts val="0"/>
              </a:spcBef>
              <a:spcAft>
                <a:spcPts val="0"/>
              </a:spcAft>
              <a:defRPr sz="1600" b="0">
                <a:solidFill>
                  <a:srgbClr val="7A8A8E"/>
                </a:solidFill>
                <a:latin typeface="Noto Sans KR"/>
              </a:defRPr>
            </a:pPr>
            <a:r>
              <a:t>이미지 1. 언어 모델의 특성에 따른 공격전략 분류</a:t>
            </a:r>
          </a:p>
        </p:txBody>
      </p:sp>
      <p:pic>
        <p:nvPicPr>
          <p:cNvPr id="5" name="Picture 4" descr="그림01.png"/>
          <p:cNvPicPr>
            <a:picLocks noChangeAspect="1"/>
          </p:cNvPicPr>
          <p:nvPr/>
        </p:nvPicPr>
        <p:blipFill>
          <a:blip r:embed="rId2"/>
          <a:stretch>
            <a:fillRect/>
          </a:stretch>
        </p:blipFill>
        <p:spPr>
          <a:xfrm>
            <a:off x="609600" y="2075194"/>
            <a:ext cx="7746999" cy="3774410"/>
          </a:xfrm>
          <a:prstGeom prst="rect">
            <a:avLst/>
          </a:prstGeom>
        </p:spPr>
      </p:pic>
      <p:sp>
        <p:nvSpPr>
          <p:cNvPr id="6" name="TextBox 5"/>
          <p:cNvSpPr txBox="1"/>
          <p:nvPr/>
        </p:nvSpPr>
        <p:spPr>
          <a:xfrm>
            <a:off x="8763000" y="2006600"/>
            <a:ext cx="2857500" cy="381000"/>
          </a:xfrm>
          <a:prstGeom prst="rect">
            <a:avLst/>
          </a:prstGeom>
          <a:noFill/>
        </p:spPr>
        <p:txBody>
          <a:bodyPr wrap="none" lIns="0" rIns="0" tIns="0" bIns="0">
            <a:spAutoFit/>
          </a:bodyPr>
          <a:lstStyle/>
          <a:p>
            <a:pPr>
              <a:lnSpc>
                <a:spcPct val="120000"/>
              </a:lnSpc>
              <a:spcBef>
                <a:spcPts val="0"/>
              </a:spcBef>
              <a:spcAft>
                <a:spcPts val="0"/>
              </a:spcAft>
              <a:defRPr sz="2000" b="1">
                <a:solidFill>
                  <a:srgbClr val="1C2C32"/>
                </a:solidFill>
                <a:latin typeface="Noto Sans KR"/>
              </a:defRPr>
            </a:pPr>
            <a:r>
              <a:t>완성 순응</a:t>
            </a:r>
          </a:p>
        </p:txBody>
      </p:sp>
      <p:sp>
        <p:nvSpPr>
          <p:cNvPr id="7" name="TextBox 6"/>
          <p:cNvSpPr txBox="1"/>
          <p:nvPr/>
        </p:nvSpPr>
        <p:spPr>
          <a:xfrm>
            <a:off x="8763000" y="2438400"/>
            <a:ext cx="2857500" cy="381000"/>
          </a:xfrm>
          <a:prstGeom prst="rect">
            <a:avLst/>
          </a:prstGeom>
          <a:noFill/>
        </p:spPr>
        <p:txBody>
          <a:bodyPr wrap="none" lIns="0" rIns="0" tIns="0" bIns="0">
            <a:spAutoFit/>
          </a:bodyPr>
          <a:lstStyle/>
          <a:p>
            <a:pPr>
              <a:lnSpc>
                <a:spcPct val="120000"/>
              </a:lnSpc>
              <a:spcBef>
                <a:spcPts val="0"/>
              </a:spcBef>
              <a:spcAft>
                <a:spcPts val="0"/>
              </a:spcAft>
              <a:defRPr sz="1500" b="0">
                <a:solidFill>
                  <a:srgbClr val="1C2C32"/>
                </a:solidFill>
                <a:latin typeface="Noto Sans KR"/>
              </a:defRPr>
            </a:pPr>
            <a:r>
              <a:t>문맥을 이어 쓰는 성질</a:t>
            </a:r>
          </a:p>
        </p:txBody>
      </p:sp>
      <p:sp>
        <p:nvSpPr>
          <p:cNvPr id="8" name="TextBox 7"/>
          <p:cNvSpPr txBox="1"/>
          <p:nvPr/>
        </p:nvSpPr>
        <p:spPr>
          <a:xfrm>
            <a:off x="8763000" y="2997200"/>
            <a:ext cx="2857500" cy="381000"/>
          </a:xfrm>
          <a:prstGeom prst="rect">
            <a:avLst/>
          </a:prstGeom>
          <a:noFill/>
        </p:spPr>
        <p:txBody>
          <a:bodyPr wrap="none" lIns="0" rIns="0" tIns="0" bIns="0">
            <a:spAutoFit/>
          </a:bodyPr>
          <a:lstStyle/>
          <a:p>
            <a:pPr>
              <a:lnSpc>
                <a:spcPct val="120000"/>
              </a:lnSpc>
              <a:spcBef>
                <a:spcPts val="0"/>
              </a:spcBef>
              <a:spcAft>
                <a:spcPts val="0"/>
              </a:spcAft>
              <a:defRPr sz="2000" b="1">
                <a:solidFill>
                  <a:srgbClr val="1C2C32"/>
                </a:solidFill>
                <a:latin typeface="Noto Sans KR"/>
              </a:defRPr>
            </a:pPr>
            <a:r>
              <a:t>지시 우회</a:t>
            </a:r>
          </a:p>
        </p:txBody>
      </p:sp>
      <p:sp>
        <p:nvSpPr>
          <p:cNvPr id="9" name="TextBox 8"/>
          <p:cNvSpPr txBox="1"/>
          <p:nvPr/>
        </p:nvSpPr>
        <p:spPr>
          <a:xfrm>
            <a:off x="8763000" y="3429000"/>
            <a:ext cx="2857500" cy="381000"/>
          </a:xfrm>
          <a:prstGeom prst="rect">
            <a:avLst/>
          </a:prstGeom>
          <a:noFill/>
        </p:spPr>
        <p:txBody>
          <a:bodyPr wrap="none" lIns="0" rIns="0" tIns="0" bIns="0">
            <a:spAutoFit/>
          </a:bodyPr>
          <a:lstStyle/>
          <a:p>
            <a:pPr>
              <a:lnSpc>
                <a:spcPct val="120000"/>
              </a:lnSpc>
              <a:spcBef>
                <a:spcPts val="0"/>
              </a:spcBef>
              <a:spcAft>
                <a:spcPts val="0"/>
              </a:spcAft>
              <a:defRPr sz="1500" b="0">
                <a:solidFill>
                  <a:srgbClr val="1C2C32"/>
                </a:solidFill>
                <a:latin typeface="Noto Sans KR"/>
              </a:defRPr>
            </a:pPr>
            <a:r>
              <a:t>지시 수행 능력을 악용</a:t>
            </a:r>
          </a:p>
        </p:txBody>
      </p:sp>
      <p:sp>
        <p:nvSpPr>
          <p:cNvPr id="10" name="TextBox 9"/>
          <p:cNvSpPr txBox="1"/>
          <p:nvPr/>
        </p:nvSpPr>
        <p:spPr>
          <a:xfrm>
            <a:off x="8763000" y="3987799"/>
            <a:ext cx="2857500" cy="381000"/>
          </a:xfrm>
          <a:prstGeom prst="rect">
            <a:avLst/>
          </a:prstGeom>
          <a:noFill/>
        </p:spPr>
        <p:txBody>
          <a:bodyPr wrap="none" lIns="0" rIns="0" tIns="0" bIns="0">
            <a:spAutoFit/>
          </a:bodyPr>
          <a:lstStyle/>
          <a:p>
            <a:pPr>
              <a:lnSpc>
                <a:spcPct val="120000"/>
              </a:lnSpc>
              <a:spcBef>
                <a:spcPts val="0"/>
              </a:spcBef>
              <a:spcAft>
                <a:spcPts val="0"/>
              </a:spcAft>
              <a:defRPr sz="2000" b="1">
                <a:solidFill>
                  <a:srgbClr val="1C2C32"/>
                </a:solidFill>
                <a:latin typeface="Noto Sans KR"/>
              </a:defRPr>
            </a:pPr>
            <a:r>
              <a:t>일반화 미끄러짐</a:t>
            </a:r>
          </a:p>
        </p:txBody>
      </p:sp>
      <p:sp>
        <p:nvSpPr>
          <p:cNvPr id="11" name="TextBox 10"/>
          <p:cNvSpPr txBox="1"/>
          <p:nvPr/>
        </p:nvSpPr>
        <p:spPr>
          <a:xfrm>
            <a:off x="8763000" y="4419600"/>
            <a:ext cx="2857500" cy="381000"/>
          </a:xfrm>
          <a:prstGeom prst="rect">
            <a:avLst/>
          </a:prstGeom>
          <a:noFill/>
        </p:spPr>
        <p:txBody>
          <a:bodyPr wrap="none" lIns="0" rIns="0" tIns="0" bIns="0">
            <a:spAutoFit/>
          </a:bodyPr>
          <a:lstStyle/>
          <a:p>
            <a:pPr>
              <a:lnSpc>
                <a:spcPct val="120000"/>
              </a:lnSpc>
              <a:spcBef>
                <a:spcPts val="0"/>
              </a:spcBef>
              <a:spcAft>
                <a:spcPts val="0"/>
              </a:spcAft>
              <a:defRPr sz="1500" b="0">
                <a:solidFill>
                  <a:srgbClr val="1C2C32"/>
                </a:solidFill>
                <a:latin typeface="Noto Sans KR"/>
              </a:defRPr>
            </a:pPr>
            <a:r>
              <a:t>저자원 언어 · 인코딩</a:t>
            </a:r>
          </a:p>
        </p:txBody>
      </p:sp>
      <p:sp>
        <p:nvSpPr>
          <p:cNvPr id="12" name="TextBox 11"/>
          <p:cNvSpPr txBox="1"/>
          <p:nvPr/>
        </p:nvSpPr>
        <p:spPr>
          <a:xfrm>
            <a:off x="8763000" y="4978400"/>
            <a:ext cx="2857500" cy="381000"/>
          </a:xfrm>
          <a:prstGeom prst="rect">
            <a:avLst/>
          </a:prstGeom>
          <a:noFill/>
        </p:spPr>
        <p:txBody>
          <a:bodyPr wrap="none" lIns="0" rIns="0" tIns="0" bIns="0">
            <a:spAutoFit/>
          </a:bodyPr>
          <a:lstStyle/>
          <a:p>
            <a:pPr>
              <a:lnSpc>
                <a:spcPct val="120000"/>
              </a:lnSpc>
              <a:spcBef>
                <a:spcPts val="0"/>
              </a:spcBef>
              <a:spcAft>
                <a:spcPts val="0"/>
              </a:spcAft>
              <a:defRPr sz="2000" b="1">
                <a:solidFill>
                  <a:srgbClr val="1C2C32"/>
                </a:solidFill>
                <a:latin typeface="Noto Sans KR"/>
              </a:defRPr>
            </a:pPr>
            <a:r>
              <a:t>모델 조작</a:t>
            </a:r>
          </a:p>
        </p:txBody>
      </p:sp>
      <p:sp>
        <p:nvSpPr>
          <p:cNvPr id="13" name="TextBox 12"/>
          <p:cNvSpPr txBox="1"/>
          <p:nvPr/>
        </p:nvSpPr>
        <p:spPr>
          <a:xfrm>
            <a:off x="8763000" y="5410200"/>
            <a:ext cx="2857500" cy="381000"/>
          </a:xfrm>
          <a:prstGeom prst="rect">
            <a:avLst/>
          </a:prstGeom>
          <a:noFill/>
        </p:spPr>
        <p:txBody>
          <a:bodyPr wrap="none" lIns="0" rIns="0" tIns="0" bIns="0">
            <a:spAutoFit/>
          </a:bodyPr>
          <a:lstStyle/>
          <a:p>
            <a:pPr>
              <a:lnSpc>
                <a:spcPct val="120000"/>
              </a:lnSpc>
              <a:spcBef>
                <a:spcPts val="0"/>
              </a:spcBef>
              <a:spcAft>
                <a:spcPts val="0"/>
              </a:spcAft>
              <a:defRPr sz="1500" b="0">
                <a:solidFill>
                  <a:srgbClr val="1C2C32"/>
                </a:solidFill>
                <a:latin typeface="Noto Sans KR"/>
              </a:defRPr>
            </a:pPr>
            <a:r>
              <a:t>설정 · 가중치 등 변경</a:t>
            </a:r>
          </a:p>
        </p:txBody>
      </p:sp>
      <p:sp>
        <p:nvSpPr>
          <p:cNvPr id="14" name="TextBox 13"/>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§1-(2), 이미지 1 / Lin et al. (2024) · 원본 비율 유지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06</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방어는 학습과 추론에 함께 적용</a:t>
            </a:r>
          </a:p>
        </p:txBody>
      </p:sp>
      <p:sp>
        <p:nvSpPr>
          <p:cNvPr id="4" name="TextBox 3"/>
          <p:cNvSpPr txBox="1"/>
          <p:nvPr/>
        </p:nvSpPr>
        <p:spPr>
          <a:xfrm>
            <a:off x="609600" y="1346200"/>
            <a:ext cx="10922000" cy="444500"/>
          </a:xfrm>
          <a:prstGeom prst="rect">
            <a:avLst/>
          </a:prstGeom>
          <a:noFill/>
        </p:spPr>
        <p:txBody>
          <a:bodyPr wrap="none" lIns="0" rIns="0" tIns="0" bIns="0">
            <a:spAutoFit/>
          </a:bodyPr>
          <a:lstStyle/>
          <a:p>
            <a:pPr>
              <a:lnSpc>
                <a:spcPct val="120000"/>
              </a:lnSpc>
              <a:spcBef>
                <a:spcPts val="0"/>
              </a:spcBef>
              <a:spcAft>
                <a:spcPts val="0"/>
              </a:spcAft>
              <a:defRPr sz="1600" b="0">
                <a:solidFill>
                  <a:srgbClr val="7A8A8E"/>
                </a:solidFill>
                <a:latin typeface="Noto Sans KR"/>
              </a:defRPr>
            </a:pPr>
            <a:r>
              <a:t>이미지 2. 모델 구축 단계별 방어 전략</a:t>
            </a:r>
          </a:p>
        </p:txBody>
      </p:sp>
      <p:pic>
        <p:nvPicPr>
          <p:cNvPr id="5" name="Picture 4" descr="그림02.png"/>
          <p:cNvPicPr>
            <a:picLocks noChangeAspect="1"/>
          </p:cNvPicPr>
          <p:nvPr/>
        </p:nvPicPr>
        <p:blipFill>
          <a:blip r:embed="rId2"/>
          <a:stretch>
            <a:fillRect/>
          </a:stretch>
        </p:blipFill>
        <p:spPr>
          <a:xfrm>
            <a:off x="874183" y="1905000"/>
            <a:ext cx="7090833" cy="4254500"/>
          </a:xfrm>
          <a:prstGeom prst="rect">
            <a:avLst/>
          </a:prstGeom>
        </p:spPr>
      </p:pic>
      <p:sp>
        <p:nvSpPr>
          <p:cNvPr id="6" name="TextBox 5"/>
          <p:cNvSpPr txBox="1"/>
          <p:nvPr/>
        </p:nvSpPr>
        <p:spPr>
          <a:xfrm>
            <a:off x="8699500" y="2095499"/>
            <a:ext cx="2921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학습 시점</a:t>
            </a:r>
          </a:p>
        </p:txBody>
      </p:sp>
      <p:sp>
        <p:nvSpPr>
          <p:cNvPr id="7" name="TextBox 6"/>
          <p:cNvSpPr txBox="1"/>
          <p:nvPr/>
        </p:nvSpPr>
        <p:spPr>
          <a:xfrm>
            <a:off x="8699500" y="2679700"/>
            <a:ext cx="2921000" cy="1079500"/>
          </a:xfrm>
          <a:prstGeom prst="rect">
            <a:avLst/>
          </a:prstGeom>
          <a:noFill/>
        </p:spPr>
        <p:txBody>
          <a:bodyPr wrap="none" lIns="0" rIns="0" tIns="0" bIns="0">
            <a:spAutoFit/>
          </a:bodyPr>
          <a:lstStyle/>
          <a:p>
            <a:pPr>
              <a:lnSpc>
                <a:spcPct val="120000"/>
              </a:lnSpc>
              <a:spcBef>
                <a:spcPts val="0"/>
              </a:spcBef>
              <a:spcAft>
                <a:spcPts val="0"/>
              </a:spcAft>
              <a:defRPr sz="1500" b="0">
                <a:solidFill>
                  <a:srgbClr val="1C2C32"/>
                </a:solidFill>
                <a:latin typeface="Noto Sans KR"/>
              </a:defRPr>
            </a:pPr>
            <a:r>
              <a:t>미세 조정 · RLHF</a:t>
            </a:r>
          </a:p>
          <a:p>
            <a:pPr>
              <a:lnSpc>
                <a:spcPct val="120000"/>
              </a:lnSpc>
              <a:spcBef>
                <a:spcPts val="0"/>
              </a:spcBef>
              <a:spcAft>
                <a:spcPts val="0"/>
              </a:spcAft>
              <a:defRPr sz="1500" b="0">
                <a:solidFill>
                  <a:srgbClr val="1C2C32"/>
                </a:solidFill>
                <a:latin typeface="Noto Sans KR"/>
              </a:defRPr>
            </a:pPr>
            <a:r>
              <a:t>적대적 학습</a:t>
            </a:r>
          </a:p>
          <a:p>
            <a:pPr>
              <a:lnSpc>
                <a:spcPct val="120000"/>
              </a:lnSpc>
              <a:spcBef>
                <a:spcPts val="0"/>
              </a:spcBef>
              <a:spcAft>
                <a:spcPts val="0"/>
              </a:spcAft>
              <a:defRPr sz="1500" b="0">
                <a:solidFill>
                  <a:srgbClr val="1C2C32"/>
                </a:solidFill>
                <a:latin typeface="Noto Sans KR"/>
              </a:defRPr>
            </a:pPr>
            <a:r>
              <a:t>안전성과 유용성의 균형</a:t>
            </a:r>
          </a:p>
        </p:txBody>
      </p:sp>
      <p:cxnSp>
        <p:nvCxnSpPr>
          <p:cNvPr id="8" name="Connector 7"/>
          <p:cNvCxnSpPr/>
          <p:nvPr/>
        </p:nvCxnSpPr>
        <p:spPr>
          <a:xfrm>
            <a:off x="8699500" y="3873499"/>
            <a:ext cx="28829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99500" y="4140200"/>
            <a:ext cx="2921000" cy="444500"/>
          </a:xfrm>
          <a:prstGeom prst="rect">
            <a:avLst/>
          </a:prstGeom>
          <a:noFill/>
        </p:spPr>
        <p:txBody>
          <a:bodyPr wrap="none" lIns="0" rIns="0" tIns="0" bIns="0">
            <a:spAutoFit/>
          </a:bodyPr>
          <a:lstStyle/>
          <a:p>
            <a:pPr>
              <a:lnSpc>
                <a:spcPct val="120000"/>
              </a:lnSpc>
              <a:spcBef>
                <a:spcPts val="0"/>
              </a:spcBef>
              <a:spcAft>
                <a:spcPts val="0"/>
              </a:spcAft>
              <a:defRPr sz="2200" b="1">
                <a:solidFill>
                  <a:srgbClr val="1C2C32"/>
                </a:solidFill>
                <a:latin typeface="Noto Sans KR"/>
              </a:defRPr>
            </a:pPr>
            <a:r>
              <a:t>추론 시점</a:t>
            </a:r>
          </a:p>
        </p:txBody>
      </p:sp>
      <p:sp>
        <p:nvSpPr>
          <p:cNvPr id="10" name="TextBox 9"/>
          <p:cNvSpPr txBox="1"/>
          <p:nvPr/>
        </p:nvSpPr>
        <p:spPr>
          <a:xfrm>
            <a:off x="8699500" y="4724400"/>
            <a:ext cx="2921000" cy="1270000"/>
          </a:xfrm>
          <a:prstGeom prst="rect">
            <a:avLst/>
          </a:prstGeom>
          <a:noFill/>
        </p:spPr>
        <p:txBody>
          <a:bodyPr wrap="none" lIns="0" rIns="0" tIns="0" bIns="0">
            <a:spAutoFit/>
          </a:bodyPr>
          <a:lstStyle/>
          <a:p>
            <a:pPr>
              <a:lnSpc>
                <a:spcPct val="120000"/>
              </a:lnSpc>
              <a:spcBef>
                <a:spcPts val="0"/>
              </a:spcBef>
              <a:spcAft>
                <a:spcPts val="0"/>
              </a:spcAft>
              <a:defRPr sz="1400" b="0">
                <a:solidFill>
                  <a:srgbClr val="1C2C32"/>
                </a:solidFill>
                <a:latin typeface="Noto Sans KR"/>
              </a:defRPr>
            </a:pPr>
            <a:r>
              <a:t>입력 필터 · 시스템 프롬프트</a:t>
            </a:r>
          </a:p>
          <a:p>
            <a:pPr>
              <a:lnSpc>
                <a:spcPct val="120000"/>
              </a:lnSpc>
              <a:spcBef>
                <a:spcPts val="0"/>
              </a:spcBef>
              <a:spcAft>
                <a:spcPts val="0"/>
              </a:spcAft>
              <a:defRPr sz="1400" b="0">
                <a:solidFill>
                  <a:srgbClr val="1C2C32"/>
                </a:solidFill>
                <a:latin typeface="Noto Sans KR"/>
              </a:defRPr>
            </a:pPr>
            <a:r>
              <a:t>출력 가드레일</a:t>
            </a:r>
          </a:p>
          <a:p>
            <a:pPr>
              <a:lnSpc>
                <a:spcPct val="120000"/>
              </a:lnSpc>
              <a:spcBef>
                <a:spcPts val="0"/>
              </a:spcBef>
              <a:spcAft>
                <a:spcPts val="0"/>
              </a:spcAft>
              <a:defRPr sz="1400" b="0">
                <a:solidFill>
                  <a:srgbClr val="1C2C32"/>
                </a:solidFill>
                <a:latin typeface="Noto Sans KR"/>
              </a:defRPr>
            </a:pPr>
            <a:r>
              <a:t>지연 · 계산 비용도 확인</a:t>
            </a:r>
          </a:p>
        </p:txBody>
      </p:sp>
      <p:sp>
        <p:nvSpPr>
          <p:cNvPr id="11" name="TextBox 10"/>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§1-(3), 이미지 2 / Lin et al. (2024) · RLHF: 사람의 피드백을 활용하는 강화학습</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07</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MART: 공격과 방어를 함께 반복 학습</a:t>
            </a:r>
          </a:p>
        </p:txBody>
      </p:sp>
      <p:sp>
        <p:nvSpPr>
          <p:cNvPr id="4" name="TextBox 3"/>
          <p:cNvSpPr txBox="1"/>
          <p:nvPr/>
        </p:nvSpPr>
        <p:spPr>
          <a:xfrm>
            <a:off x="609600" y="1346200"/>
            <a:ext cx="10922000" cy="444500"/>
          </a:xfrm>
          <a:prstGeom prst="rect">
            <a:avLst/>
          </a:prstGeom>
          <a:noFill/>
        </p:spPr>
        <p:txBody>
          <a:bodyPr wrap="none" lIns="0" rIns="0" tIns="0" bIns="0">
            <a:spAutoFit/>
          </a:bodyPr>
          <a:lstStyle/>
          <a:p>
            <a:pPr>
              <a:lnSpc>
                <a:spcPct val="120000"/>
              </a:lnSpc>
              <a:spcBef>
                <a:spcPts val="0"/>
              </a:spcBef>
              <a:spcAft>
                <a:spcPts val="0"/>
              </a:spcAft>
              <a:defRPr sz="1600" b="0">
                <a:solidFill>
                  <a:srgbClr val="7A8A8E"/>
                </a:solidFill>
                <a:latin typeface="Noto Sans KR"/>
              </a:defRPr>
            </a:pPr>
            <a:r>
              <a:t>이미지 3. MART 학습 프레임워크 · 다중 라운드 자동 레드팀</a:t>
            </a:r>
          </a:p>
        </p:txBody>
      </p:sp>
      <p:pic>
        <p:nvPicPr>
          <p:cNvPr id="5" name="Picture 4" descr="그림03.png"/>
          <p:cNvPicPr>
            <a:picLocks noChangeAspect="1"/>
          </p:cNvPicPr>
          <p:nvPr/>
        </p:nvPicPr>
        <p:blipFill>
          <a:blip r:embed="rId2"/>
          <a:stretch>
            <a:fillRect/>
          </a:stretch>
        </p:blipFill>
        <p:spPr>
          <a:xfrm>
            <a:off x="615771" y="1968499"/>
            <a:ext cx="10960457" cy="3619500"/>
          </a:xfrm>
          <a:prstGeom prst="rect">
            <a:avLst/>
          </a:prstGeom>
        </p:spPr>
      </p:pic>
      <p:cxnSp>
        <p:nvCxnSpPr>
          <p:cNvPr id="6" name="Connector 5"/>
          <p:cNvCxnSpPr/>
          <p:nvPr/>
        </p:nvCxnSpPr>
        <p:spPr>
          <a:xfrm>
            <a:off x="609600" y="5626100"/>
            <a:ext cx="109728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5791200"/>
            <a:ext cx="5397500" cy="406400"/>
          </a:xfrm>
          <a:prstGeom prst="rect">
            <a:avLst/>
          </a:prstGeom>
          <a:noFill/>
        </p:spPr>
        <p:txBody>
          <a:bodyPr wrap="none" lIns="0" rIns="0" tIns="0" bIns="0">
            <a:spAutoFit/>
          </a:bodyPr>
          <a:lstStyle/>
          <a:p>
            <a:pPr>
              <a:lnSpc>
                <a:spcPct val="120000"/>
              </a:lnSpc>
              <a:spcBef>
                <a:spcPts val="0"/>
              </a:spcBef>
              <a:spcAft>
                <a:spcPts val="0"/>
              </a:spcAft>
              <a:defRPr sz="1700" b="1">
                <a:solidFill>
                  <a:srgbClr val="1C2C32"/>
                </a:solidFill>
                <a:latin typeface="Noto Sans KR"/>
              </a:defRPr>
            </a:pPr>
            <a:r>
              <a:t>왼쪽: 성공한 공격으로 적대적 모델 학습</a:t>
            </a:r>
          </a:p>
        </p:txBody>
      </p:sp>
      <p:sp>
        <p:nvSpPr>
          <p:cNvPr id="8" name="TextBox 7"/>
          <p:cNvSpPr txBox="1"/>
          <p:nvPr/>
        </p:nvSpPr>
        <p:spPr>
          <a:xfrm>
            <a:off x="6350000" y="5791200"/>
            <a:ext cx="5232400" cy="406400"/>
          </a:xfrm>
          <a:prstGeom prst="rect">
            <a:avLst/>
          </a:prstGeom>
          <a:noFill/>
        </p:spPr>
        <p:txBody>
          <a:bodyPr wrap="none" lIns="0" rIns="0" tIns="0" bIns="0">
            <a:spAutoFit/>
          </a:bodyPr>
          <a:lstStyle/>
          <a:p>
            <a:pPr>
              <a:lnSpc>
                <a:spcPct val="120000"/>
              </a:lnSpc>
              <a:spcBef>
                <a:spcPts val="0"/>
              </a:spcBef>
              <a:spcAft>
                <a:spcPts val="0"/>
              </a:spcAft>
              <a:defRPr sz="1700" b="1">
                <a:solidFill>
                  <a:srgbClr val="1C2C32"/>
                </a:solidFill>
                <a:latin typeface="Noto Sans KR"/>
              </a:defRPr>
            </a:pPr>
            <a:r>
              <a:t>오른쪽: 안전한 응답으로 안전 모델 개선</a:t>
            </a:r>
          </a:p>
        </p:txBody>
      </p:sp>
      <p:sp>
        <p:nvSpPr>
          <p:cNvPr id="9" name="TextBox 8"/>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§2-(1), 이미지 3 / Ge et al., MART (2023) · 평가 결과를 다음 라운드에 반영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08</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MART의 평가: 안전성과 유용성을 함께 확인</a:t>
            </a:r>
          </a:p>
        </p:txBody>
      </p:sp>
      <p:sp>
        <p:nvSpPr>
          <p:cNvPr id="4" name="TextBox 3"/>
          <p:cNvSpPr txBox="1"/>
          <p:nvPr/>
        </p:nvSpPr>
        <p:spPr>
          <a:xfrm>
            <a:off x="609600" y="1371600"/>
            <a:ext cx="10922000" cy="444500"/>
          </a:xfrm>
          <a:prstGeom prst="rect">
            <a:avLst/>
          </a:prstGeom>
          <a:noFill/>
        </p:spPr>
        <p:txBody>
          <a:bodyPr wrap="none" lIns="0" rIns="0" tIns="0" bIns="0">
            <a:spAutoFit/>
          </a:bodyPr>
          <a:lstStyle/>
          <a:p>
            <a:pPr>
              <a:lnSpc>
                <a:spcPct val="120000"/>
              </a:lnSpc>
              <a:spcBef>
                <a:spcPts val="0"/>
              </a:spcBef>
              <a:spcAft>
                <a:spcPts val="0"/>
              </a:spcAft>
              <a:defRPr sz="1600" b="0">
                <a:solidFill>
                  <a:srgbClr val="7A8A8E"/>
                </a:solidFill>
                <a:latin typeface="Noto Sans KR"/>
              </a:defRPr>
            </a:pPr>
            <a:r>
              <a:t>원문 이미지 4 · 서로 다른 평가 패널의 점수를 직접 비교하지 않음</a:t>
            </a:r>
          </a:p>
        </p:txBody>
      </p:sp>
      <p:pic>
        <p:nvPicPr>
          <p:cNvPr id="5" name="Picture 4" descr="그림04.png"/>
          <p:cNvPicPr>
            <a:picLocks noChangeAspect="1"/>
          </p:cNvPicPr>
          <p:nvPr/>
        </p:nvPicPr>
        <p:blipFill>
          <a:blip r:embed="rId2"/>
          <a:stretch>
            <a:fillRect/>
          </a:stretch>
        </p:blipFill>
        <p:spPr>
          <a:xfrm>
            <a:off x="1216383" y="1968500"/>
            <a:ext cx="9733832" cy="2705100"/>
          </a:xfrm>
          <a:prstGeom prst="rect">
            <a:avLst/>
          </a:prstGeom>
        </p:spPr>
      </p:pic>
      <p:cxnSp>
        <p:nvCxnSpPr>
          <p:cNvPr id="6" name="Connector 5"/>
          <p:cNvCxnSpPr/>
          <p:nvPr/>
        </p:nvCxnSpPr>
        <p:spPr>
          <a:xfrm>
            <a:off x="609600" y="5016500"/>
            <a:ext cx="109474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5270500"/>
            <a:ext cx="5334000" cy="431800"/>
          </a:xfrm>
          <a:prstGeom prst="rect">
            <a:avLst/>
          </a:prstGeom>
          <a:noFill/>
        </p:spPr>
        <p:txBody>
          <a:bodyPr wrap="none" lIns="0" rIns="0" tIns="0" bIns="0">
            <a:spAutoFit/>
          </a:bodyPr>
          <a:lstStyle/>
          <a:p>
            <a:pPr>
              <a:lnSpc>
                <a:spcPct val="120000"/>
              </a:lnSpc>
              <a:spcBef>
                <a:spcPts val="0"/>
              </a:spcBef>
              <a:spcAft>
                <a:spcPts val="0"/>
              </a:spcAft>
              <a:defRPr sz="2400" b="1">
                <a:solidFill>
                  <a:srgbClr val="1C2C32"/>
                </a:solidFill>
                <a:latin typeface="Noto Sans KR"/>
              </a:defRPr>
            </a:pPr>
            <a:r>
              <a:t>안전성 지표 개선</a:t>
            </a:r>
          </a:p>
        </p:txBody>
      </p:sp>
      <p:sp>
        <p:nvSpPr>
          <p:cNvPr id="8" name="TextBox 7"/>
          <p:cNvSpPr txBox="1"/>
          <p:nvPr/>
        </p:nvSpPr>
        <p:spPr>
          <a:xfrm>
            <a:off x="6350000" y="5270500"/>
            <a:ext cx="5207000" cy="431800"/>
          </a:xfrm>
          <a:prstGeom prst="rect">
            <a:avLst/>
          </a:prstGeom>
          <a:noFill/>
        </p:spPr>
        <p:txBody>
          <a:bodyPr wrap="none" lIns="0" rIns="0" tIns="0" bIns="0">
            <a:spAutoFit/>
          </a:bodyPr>
          <a:lstStyle/>
          <a:p>
            <a:pPr>
              <a:lnSpc>
                <a:spcPct val="120000"/>
              </a:lnSpc>
              <a:spcBef>
                <a:spcPts val="0"/>
              </a:spcBef>
              <a:spcAft>
                <a:spcPts val="0"/>
              </a:spcAft>
              <a:defRPr sz="2400" b="1">
                <a:solidFill>
                  <a:srgbClr val="1C2C32"/>
                </a:solidFill>
                <a:latin typeface="Noto Sans KR"/>
              </a:defRPr>
            </a:pPr>
            <a:r>
              <a:t>유용성은 비교적 유지</a:t>
            </a:r>
          </a:p>
        </p:txBody>
      </p:sp>
      <p:sp>
        <p:nvSpPr>
          <p:cNvPr id="9" name="TextBox 8"/>
          <p:cNvSpPr txBox="1"/>
          <p:nvPr/>
        </p:nvSpPr>
        <p:spPr>
          <a:xfrm>
            <a:off x="609600" y="5803900"/>
            <a:ext cx="10795000" cy="381000"/>
          </a:xfrm>
          <a:prstGeom prst="rect">
            <a:avLst/>
          </a:prstGeom>
          <a:noFill/>
        </p:spPr>
        <p:txBody>
          <a:bodyPr wrap="none" lIns="0" rIns="0" tIns="0" bIns="0">
            <a:spAutoFit/>
          </a:bodyPr>
          <a:lstStyle/>
          <a:p>
            <a:pPr>
              <a:lnSpc>
                <a:spcPct val="120000"/>
              </a:lnSpc>
              <a:spcBef>
                <a:spcPts val="0"/>
              </a:spcBef>
              <a:spcAft>
                <a:spcPts val="0"/>
              </a:spcAft>
              <a:defRPr sz="1600" b="0">
                <a:solidFill>
                  <a:srgbClr val="1C2C32"/>
                </a:solidFill>
                <a:latin typeface="Noto Sans KR"/>
              </a:defRPr>
            </a:pPr>
            <a:r>
              <a:t>평가한 데이터셋의 결과이며, 모든 공격에 대한 안전을 보장하지 않음</a:t>
            </a:r>
          </a:p>
        </p:txBody>
      </p:sp>
      <p:sp>
        <p:nvSpPr>
          <p:cNvPr id="10" name="TextBox 9"/>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§2-(1), 원문 이미지 4 / Ge et al. · 유용성 패널은 그림 기준 (b),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09</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ChatEXAONE: 프롬프트 추천 기능의 방어</a:t>
            </a:r>
          </a:p>
        </p:txBody>
      </p:sp>
      <p:sp>
        <p:nvSpPr>
          <p:cNvPr id="4" name="TextBox 3"/>
          <p:cNvSpPr txBox="1"/>
          <p:nvPr/>
        </p:nvSpPr>
        <p:spPr>
          <a:xfrm>
            <a:off x="609600" y="1447800"/>
            <a:ext cx="10922000" cy="444500"/>
          </a:xfrm>
          <a:prstGeom prst="rect">
            <a:avLst/>
          </a:prstGeom>
          <a:noFill/>
        </p:spPr>
        <p:txBody>
          <a:bodyPr wrap="none" lIns="0" rIns="0" tIns="0" bIns="0">
            <a:spAutoFit/>
          </a:bodyPr>
          <a:lstStyle/>
          <a:p>
            <a:pPr>
              <a:lnSpc>
                <a:spcPct val="120000"/>
              </a:lnSpc>
              <a:spcBef>
                <a:spcPts val="0"/>
              </a:spcBef>
              <a:spcAft>
                <a:spcPts val="0"/>
              </a:spcAft>
              <a:defRPr sz="1700" b="0">
                <a:solidFill>
                  <a:srgbClr val="7A8A8E"/>
                </a:solidFill>
                <a:latin typeface="Noto Sans KR"/>
              </a:defRPr>
            </a:pPr>
            <a:r>
              <a:t>사용자 의도를 이어 받는 추천 기능에서도 위험이 발생</a:t>
            </a:r>
          </a:p>
        </p:txBody>
      </p:sp>
      <p:sp>
        <p:nvSpPr>
          <p:cNvPr id="5" name="TextBox 4"/>
          <p:cNvSpPr txBox="1"/>
          <p:nvPr/>
        </p:nvSpPr>
        <p:spPr>
          <a:xfrm>
            <a:off x="609600" y="2286000"/>
            <a:ext cx="4889500" cy="1841500"/>
          </a:xfrm>
          <a:prstGeom prst="rect">
            <a:avLst/>
          </a:prstGeom>
          <a:noFill/>
        </p:spPr>
        <p:txBody>
          <a:bodyPr wrap="none" lIns="0" rIns="0" tIns="0" bIns="0">
            <a:spAutoFit/>
          </a:bodyPr>
          <a:lstStyle/>
          <a:p>
            <a:pPr>
              <a:lnSpc>
                <a:spcPct val="120000"/>
              </a:lnSpc>
              <a:spcBef>
                <a:spcPts val="0"/>
              </a:spcBef>
              <a:spcAft>
                <a:spcPts val="0"/>
              </a:spcAft>
              <a:defRPr sz="3500" b="1">
                <a:solidFill>
                  <a:srgbClr val="1C2C32"/>
                </a:solidFill>
                <a:latin typeface="Noto Sans KR"/>
              </a:defRPr>
            </a:pPr>
            <a:r>
              <a:t>후속 질문 추천도</a:t>
            </a:r>
          </a:p>
          <a:p>
            <a:pPr>
              <a:lnSpc>
                <a:spcPct val="120000"/>
              </a:lnSpc>
              <a:spcBef>
                <a:spcPts val="0"/>
              </a:spcBef>
              <a:spcAft>
                <a:spcPts val="0"/>
              </a:spcAft>
              <a:defRPr sz="3500" b="1">
                <a:solidFill>
                  <a:srgbClr val="1C2C32"/>
                </a:solidFill>
                <a:latin typeface="Noto Sans KR"/>
              </a:defRPr>
            </a:pPr>
            <a:r>
              <a:t>안전해야 한다</a:t>
            </a:r>
          </a:p>
        </p:txBody>
      </p:sp>
      <p:sp>
        <p:nvSpPr>
          <p:cNvPr id="6" name="TextBox 5"/>
          <p:cNvSpPr txBox="1"/>
          <p:nvPr/>
        </p:nvSpPr>
        <p:spPr>
          <a:xfrm>
            <a:off x="609600" y="4445000"/>
            <a:ext cx="4889500" cy="1206500"/>
          </a:xfrm>
          <a:prstGeom prst="rect">
            <a:avLst/>
          </a:prstGeom>
          <a:noFill/>
        </p:spPr>
        <p:txBody>
          <a:bodyPr wrap="none" lIns="0" rIns="0" tIns="0" bIns="0">
            <a:spAutoFit/>
          </a:bodyPr>
          <a:lstStyle/>
          <a:p>
            <a:pPr>
              <a:lnSpc>
                <a:spcPct val="120000"/>
              </a:lnSpc>
              <a:spcBef>
                <a:spcPts val="0"/>
              </a:spcBef>
              <a:spcAft>
                <a:spcPts val="0"/>
              </a:spcAft>
              <a:defRPr sz="1900" b="0">
                <a:solidFill>
                  <a:srgbClr val="1C2C32"/>
                </a:solidFill>
                <a:latin typeface="Noto Sans KR"/>
              </a:defRPr>
            </a:pPr>
            <a:r>
              <a:t>악의적 입력이 부적절한</a:t>
            </a:r>
          </a:p>
          <a:p>
            <a:pPr>
              <a:lnSpc>
                <a:spcPct val="120000"/>
              </a:lnSpc>
              <a:spcBef>
                <a:spcPts val="0"/>
              </a:spcBef>
              <a:spcAft>
                <a:spcPts val="0"/>
              </a:spcAft>
              <a:defRPr sz="1900" b="0">
                <a:solidFill>
                  <a:srgbClr val="1C2C32"/>
                </a:solidFill>
                <a:latin typeface="Noto Sans KR"/>
              </a:defRPr>
            </a:pPr>
            <a:r>
              <a:t>후속 프롬프트로 이어질 가능성</a:t>
            </a:r>
          </a:p>
        </p:txBody>
      </p:sp>
      <p:sp>
        <p:nvSpPr>
          <p:cNvPr id="7" name="TextBox 6"/>
          <p:cNvSpPr txBox="1"/>
          <p:nvPr/>
        </p:nvSpPr>
        <p:spPr>
          <a:xfrm>
            <a:off x="6413500" y="2286000"/>
            <a:ext cx="5143500" cy="444500"/>
          </a:xfrm>
          <a:prstGeom prst="rect">
            <a:avLst/>
          </a:prstGeom>
          <a:noFill/>
        </p:spPr>
        <p:txBody>
          <a:bodyPr wrap="none" lIns="0" rIns="0" tIns="0" bIns="0">
            <a:spAutoFit/>
          </a:bodyPr>
          <a:lstStyle/>
          <a:p>
            <a:pPr>
              <a:lnSpc>
                <a:spcPct val="120000"/>
              </a:lnSpc>
              <a:spcBef>
                <a:spcPts val="0"/>
              </a:spcBef>
              <a:spcAft>
                <a:spcPts val="0"/>
              </a:spcAft>
              <a:defRPr sz="2400" b="1">
                <a:solidFill>
                  <a:srgbClr val="1C2C32"/>
                </a:solidFill>
                <a:latin typeface="Noto Sans KR"/>
              </a:defRPr>
            </a:pPr>
            <a:r>
              <a:t>학습 단계</a:t>
            </a:r>
          </a:p>
        </p:txBody>
      </p:sp>
      <p:cxnSp>
        <p:nvCxnSpPr>
          <p:cNvPr id="8" name="Connector 7"/>
          <p:cNvCxnSpPr/>
          <p:nvPr/>
        </p:nvCxnSpPr>
        <p:spPr>
          <a:xfrm>
            <a:off x="6413500" y="2882900"/>
            <a:ext cx="5143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13500" y="3111500"/>
            <a:ext cx="5270500" cy="762000"/>
          </a:xfrm>
          <a:prstGeom prst="rect">
            <a:avLst/>
          </a:prstGeom>
          <a:noFill/>
        </p:spPr>
        <p:txBody>
          <a:bodyPr wrap="none" lIns="0" rIns="0" tIns="0" bIns="0">
            <a:spAutoFit/>
          </a:bodyPr>
          <a:lstStyle/>
          <a:p>
            <a:pPr>
              <a:lnSpc>
                <a:spcPct val="120000"/>
              </a:lnSpc>
              <a:spcBef>
                <a:spcPts val="0"/>
              </a:spcBef>
              <a:spcAft>
                <a:spcPts val="0"/>
              </a:spcAft>
              <a:defRPr sz="1700" b="0">
                <a:solidFill>
                  <a:srgbClr val="1C2C32"/>
                </a:solidFill>
                <a:latin typeface="Noto Sans KR"/>
              </a:defRPr>
            </a:pPr>
            <a:r>
              <a:t>악의적 프롬프트에 대응하는 학습</a:t>
            </a:r>
          </a:p>
        </p:txBody>
      </p:sp>
      <p:sp>
        <p:nvSpPr>
          <p:cNvPr id="10" name="TextBox 9"/>
          <p:cNvSpPr txBox="1"/>
          <p:nvPr/>
        </p:nvSpPr>
        <p:spPr>
          <a:xfrm>
            <a:off x="6413500" y="3873499"/>
            <a:ext cx="5143500" cy="444500"/>
          </a:xfrm>
          <a:prstGeom prst="rect">
            <a:avLst/>
          </a:prstGeom>
          <a:noFill/>
        </p:spPr>
        <p:txBody>
          <a:bodyPr wrap="none" lIns="0" rIns="0" tIns="0" bIns="0">
            <a:spAutoFit/>
          </a:bodyPr>
          <a:lstStyle/>
          <a:p>
            <a:pPr>
              <a:lnSpc>
                <a:spcPct val="120000"/>
              </a:lnSpc>
              <a:spcBef>
                <a:spcPts val="0"/>
              </a:spcBef>
              <a:spcAft>
                <a:spcPts val="0"/>
              </a:spcAft>
              <a:defRPr sz="2400" b="1">
                <a:solidFill>
                  <a:srgbClr val="1C2C32"/>
                </a:solidFill>
                <a:latin typeface="Noto Sans KR"/>
              </a:defRPr>
            </a:pPr>
            <a:r>
              <a:t>추론 단계</a:t>
            </a:r>
          </a:p>
        </p:txBody>
      </p:sp>
      <p:cxnSp>
        <p:nvCxnSpPr>
          <p:cNvPr id="11" name="Connector 10"/>
          <p:cNvCxnSpPr/>
          <p:nvPr/>
        </p:nvCxnSpPr>
        <p:spPr>
          <a:xfrm>
            <a:off x="6413500" y="4470400"/>
            <a:ext cx="51435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13500" y="4699000"/>
            <a:ext cx="5270500" cy="762000"/>
          </a:xfrm>
          <a:prstGeom prst="rect">
            <a:avLst/>
          </a:prstGeom>
          <a:noFill/>
        </p:spPr>
        <p:txBody>
          <a:bodyPr wrap="none" lIns="0" rIns="0" tIns="0" bIns="0">
            <a:spAutoFit/>
          </a:bodyPr>
          <a:lstStyle/>
          <a:p>
            <a:pPr>
              <a:lnSpc>
                <a:spcPct val="120000"/>
              </a:lnSpc>
              <a:spcBef>
                <a:spcPts val="0"/>
              </a:spcBef>
              <a:spcAft>
                <a:spcPts val="0"/>
              </a:spcAft>
              <a:defRPr sz="1700" b="0">
                <a:solidFill>
                  <a:srgbClr val="1C2C32"/>
                </a:solidFill>
                <a:latin typeface="Noto Sans KR"/>
              </a:defRPr>
            </a:pPr>
            <a:r>
              <a:t>자체 안전 필터로 유해 콘텐츠 감지·차단</a:t>
            </a:r>
          </a:p>
        </p:txBody>
      </p:sp>
      <p:sp>
        <p:nvSpPr>
          <p:cNvPr id="13" name="TextBox 12"/>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블로그 §2-(2) · 2024년 소개 사례이며, 차단율 · 오탐률 수치는 제시되지 않음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10</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정리: 실패를 찾아 학습과 운영에 반영</a:t>
            </a:r>
          </a:p>
        </p:txBody>
      </p:sp>
      <p:sp>
        <p:nvSpPr>
          <p:cNvPr id="4" name="TextBox 3"/>
          <p:cNvSpPr txBox="1"/>
          <p:nvPr/>
        </p:nvSpPr>
        <p:spPr>
          <a:xfrm>
            <a:off x="609600" y="2032000"/>
            <a:ext cx="6096000" cy="2159000"/>
          </a:xfrm>
          <a:prstGeom prst="rect">
            <a:avLst/>
          </a:prstGeom>
          <a:noFill/>
        </p:spPr>
        <p:txBody>
          <a:bodyPr wrap="none" lIns="0" rIns="0" tIns="0" bIns="0">
            <a:spAutoFit/>
          </a:bodyPr>
          <a:lstStyle/>
          <a:p>
            <a:pPr>
              <a:lnSpc>
                <a:spcPct val="120000"/>
              </a:lnSpc>
              <a:spcBef>
                <a:spcPts val="0"/>
              </a:spcBef>
              <a:spcAft>
                <a:spcPts val="0"/>
              </a:spcAft>
              <a:defRPr sz="4100" b="1">
                <a:solidFill>
                  <a:srgbClr val="1C2C32"/>
                </a:solidFill>
                <a:latin typeface="Noto Sans KR"/>
              </a:defRPr>
            </a:pPr>
            <a:r>
              <a:t>취약점을 찾고</a:t>
            </a:r>
          </a:p>
          <a:p>
            <a:pPr>
              <a:lnSpc>
                <a:spcPct val="120000"/>
              </a:lnSpc>
              <a:spcBef>
                <a:spcPts val="0"/>
              </a:spcBef>
              <a:spcAft>
                <a:spcPts val="0"/>
              </a:spcAft>
              <a:defRPr sz="4100" b="1">
                <a:solidFill>
                  <a:srgbClr val="1C2C32"/>
                </a:solidFill>
                <a:latin typeface="Noto Sans KR"/>
              </a:defRPr>
            </a:pPr>
            <a:r>
              <a:t>반복해서 개선</a:t>
            </a:r>
          </a:p>
        </p:txBody>
      </p:sp>
      <p:sp>
        <p:nvSpPr>
          <p:cNvPr id="5" name="TextBox 4"/>
          <p:cNvSpPr txBox="1"/>
          <p:nvPr/>
        </p:nvSpPr>
        <p:spPr>
          <a:xfrm>
            <a:off x="609600" y="4826000"/>
            <a:ext cx="5588000" cy="825500"/>
          </a:xfrm>
          <a:prstGeom prst="rect">
            <a:avLst/>
          </a:prstGeom>
          <a:noFill/>
        </p:spPr>
        <p:txBody>
          <a:bodyPr wrap="none" lIns="0" rIns="0" tIns="0" bIns="0">
            <a:spAutoFit/>
          </a:bodyPr>
          <a:lstStyle/>
          <a:p>
            <a:pPr>
              <a:lnSpc>
                <a:spcPct val="120000"/>
              </a:lnSpc>
              <a:spcBef>
                <a:spcPts val="0"/>
              </a:spcBef>
              <a:spcAft>
                <a:spcPts val="0"/>
              </a:spcAft>
              <a:defRPr sz="2300" b="0">
                <a:solidFill>
                  <a:srgbClr val="1C2C32"/>
                </a:solidFill>
                <a:latin typeface="Noto Sans KR"/>
              </a:defRPr>
            </a:pPr>
            <a:r>
              <a:t>평가의 조건과 한계를</a:t>
            </a:r>
          </a:p>
          <a:p>
            <a:pPr>
              <a:lnSpc>
                <a:spcPct val="120000"/>
              </a:lnSpc>
              <a:spcBef>
                <a:spcPts val="0"/>
              </a:spcBef>
              <a:spcAft>
                <a:spcPts val="0"/>
              </a:spcAft>
              <a:defRPr sz="2300" b="0">
                <a:solidFill>
                  <a:srgbClr val="1C2C32"/>
                </a:solidFill>
                <a:latin typeface="Noto Sans KR"/>
              </a:defRPr>
            </a:pPr>
            <a:r>
              <a:t>함께 읽는 것이 중요</a:t>
            </a:r>
          </a:p>
        </p:txBody>
      </p:sp>
      <p:sp>
        <p:nvSpPr>
          <p:cNvPr id="6" name="TextBox 5"/>
          <p:cNvSpPr txBox="1"/>
          <p:nvPr/>
        </p:nvSpPr>
        <p:spPr>
          <a:xfrm>
            <a:off x="6985000" y="1841500"/>
            <a:ext cx="4572000" cy="3556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과정</a:t>
            </a:r>
          </a:p>
        </p:txBody>
      </p:sp>
      <p:sp>
        <p:nvSpPr>
          <p:cNvPr id="7" name="TextBox 6"/>
          <p:cNvSpPr txBox="1"/>
          <p:nvPr/>
        </p:nvSpPr>
        <p:spPr>
          <a:xfrm>
            <a:off x="6985000" y="2387600"/>
            <a:ext cx="4699000" cy="825500"/>
          </a:xfrm>
          <a:prstGeom prst="rect">
            <a:avLst/>
          </a:prstGeom>
          <a:noFill/>
        </p:spPr>
        <p:txBody>
          <a:bodyPr wrap="none" lIns="0" rIns="0" tIns="0" bIns="0">
            <a:spAutoFit/>
          </a:bodyPr>
          <a:lstStyle/>
          <a:p>
            <a:pPr>
              <a:lnSpc>
                <a:spcPct val="120000"/>
              </a:lnSpc>
              <a:spcBef>
                <a:spcPts val="0"/>
              </a:spcBef>
              <a:spcAft>
                <a:spcPts val="0"/>
              </a:spcAft>
              <a:defRPr sz="1800" b="1">
                <a:solidFill>
                  <a:srgbClr val="1C2C32"/>
                </a:solidFill>
                <a:latin typeface="Noto Sans KR"/>
              </a:defRPr>
            </a:pPr>
            <a:r>
              <a:t>위험 정의 → 공격 → 방어 → 운영</a:t>
            </a:r>
          </a:p>
        </p:txBody>
      </p:sp>
      <p:cxnSp>
        <p:nvCxnSpPr>
          <p:cNvPr id="8" name="Connector 7"/>
          <p:cNvCxnSpPr/>
          <p:nvPr/>
        </p:nvCxnSpPr>
        <p:spPr>
          <a:xfrm>
            <a:off x="6985000" y="3060700"/>
            <a:ext cx="45720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985000" y="3175000"/>
            <a:ext cx="4572000" cy="3556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연구와 서비스</a:t>
            </a:r>
          </a:p>
        </p:txBody>
      </p:sp>
      <p:sp>
        <p:nvSpPr>
          <p:cNvPr id="10" name="TextBox 9"/>
          <p:cNvSpPr txBox="1"/>
          <p:nvPr/>
        </p:nvSpPr>
        <p:spPr>
          <a:xfrm>
            <a:off x="6985000" y="3721100"/>
            <a:ext cx="4699000" cy="825500"/>
          </a:xfrm>
          <a:prstGeom prst="rect">
            <a:avLst/>
          </a:prstGeom>
          <a:noFill/>
        </p:spPr>
        <p:txBody>
          <a:bodyPr wrap="none" lIns="0" rIns="0" tIns="0" bIns="0">
            <a:spAutoFit/>
          </a:bodyPr>
          <a:lstStyle/>
          <a:p>
            <a:pPr>
              <a:lnSpc>
                <a:spcPct val="120000"/>
              </a:lnSpc>
              <a:spcBef>
                <a:spcPts val="0"/>
              </a:spcBef>
              <a:spcAft>
                <a:spcPts val="0"/>
              </a:spcAft>
              <a:defRPr sz="1800" b="1">
                <a:solidFill>
                  <a:srgbClr val="1C2C32"/>
                </a:solidFill>
                <a:latin typeface="Noto Sans KR"/>
              </a:defRPr>
            </a:pPr>
            <a:r>
              <a:t>MART의 반복 학습 · ChatEXAONE의 방어</a:t>
            </a:r>
          </a:p>
        </p:txBody>
      </p:sp>
      <p:cxnSp>
        <p:nvCxnSpPr>
          <p:cNvPr id="11" name="Connector 10"/>
          <p:cNvCxnSpPr/>
          <p:nvPr/>
        </p:nvCxnSpPr>
        <p:spPr>
          <a:xfrm>
            <a:off x="6985000" y="4394200"/>
            <a:ext cx="45720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985000" y="4508500"/>
            <a:ext cx="4572000" cy="355600"/>
          </a:xfrm>
          <a:prstGeom prst="rect">
            <a:avLst/>
          </a:prstGeom>
          <a:noFill/>
        </p:spPr>
        <p:txBody>
          <a:bodyPr wrap="none" lIns="0" rIns="0" tIns="0" bIns="0">
            <a:spAutoFit/>
          </a:bodyPr>
          <a:lstStyle/>
          <a:p>
            <a:pPr>
              <a:lnSpc>
                <a:spcPct val="120000"/>
              </a:lnSpc>
              <a:spcBef>
                <a:spcPts val="0"/>
              </a:spcBef>
              <a:spcAft>
                <a:spcPts val="0"/>
              </a:spcAft>
              <a:defRPr sz="1400" b="0">
                <a:solidFill>
                  <a:srgbClr val="7A8A8E"/>
                </a:solidFill>
                <a:latin typeface="Noto Sans KR"/>
              </a:defRPr>
            </a:pPr>
            <a:r>
              <a:t>통계학습 관점</a:t>
            </a:r>
          </a:p>
        </p:txBody>
      </p:sp>
      <p:sp>
        <p:nvSpPr>
          <p:cNvPr id="13" name="TextBox 12"/>
          <p:cNvSpPr txBox="1"/>
          <p:nvPr/>
        </p:nvSpPr>
        <p:spPr>
          <a:xfrm>
            <a:off x="6985000" y="5054600"/>
            <a:ext cx="4699000" cy="825500"/>
          </a:xfrm>
          <a:prstGeom prst="rect">
            <a:avLst/>
          </a:prstGeom>
          <a:noFill/>
        </p:spPr>
        <p:txBody>
          <a:bodyPr wrap="none" lIns="0" rIns="0" tIns="0" bIns="0">
            <a:spAutoFit/>
          </a:bodyPr>
          <a:lstStyle/>
          <a:p>
            <a:pPr>
              <a:lnSpc>
                <a:spcPct val="120000"/>
              </a:lnSpc>
              <a:spcBef>
                <a:spcPts val="0"/>
              </a:spcBef>
              <a:spcAft>
                <a:spcPts val="0"/>
              </a:spcAft>
              <a:defRPr sz="1800" b="1">
                <a:solidFill>
                  <a:srgbClr val="1C2C32"/>
                </a:solidFill>
                <a:latin typeface="Noto Sans KR"/>
              </a:defRPr>
            </a:pPr>
            <a:r>
              <a:t>분포 변화 · 안전성 · 유용성을 함께 평가</a:t>
            </a:r>
          </a:p>
        </p:txBody>
      </p:sp>
      <p:cxnSp>
        <p:nvCxnSpPr>
          <p:cNvPr id="14" name="Connector 13"/>
          <p:cNvCxnSpPr/>
          <p:nvPr/>
        </p:nvCxnSpPr>
        <p:spPr>
          <a:xfrm>
            <a:off x="6985000" y="5727700"/>
            <a:ext cx="4572000" cy="0"/>
          </a:xfrm>
          <a:prstGeom prst="line">
            <a:avLst/>
          </a:prstGeom>
          <a:ln w="10160">
            <a:solidFill>
              <a:srgbClr val="D4DF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출처: LG AI Research (2024) · 통계학습 관점의 정리는 발표자 해석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DFD"/>
        </a:solidFill>
        <a:effectLst/>
      </p:bgPr>
    </p:bg>
    <p:spTree>
      <p:nvGrpSpPr>
        <p:cNvPr id="1" name=""/>
        <p:cNvGrpSpPr/>
        <p:nvPr/>
      </p:nvGrpSpPr>
      <p:grpSpPr/>
      <p:sp>
        <p:nvSpPr>
          <p:cNvPr id="2" name="TextBox 1"/>
          <p:cNvSpPr txBox="1"/>
          <p:nvPr/>
        </p:nvSpPr>
        <p:spPr>
          <a:xfrm>
            <a:off x="11404600" y="508000"/>
            <a:ext cx="444500" cy="279400"/>
          </a:xfrm>
          <a:prstGeom prst="rect">
            <a:avLst/>
          </a:prstGeom>
          <a:noFill/>
        </p:spPr>
        <p:txBody>
          <a:bodyPr wrap="none" lIns="0" rIns="0" tIns="0" bIns="0">
            <a:spAutoFit/>
          </a:bodyPr>
          <a:lstStyle/>
          <a:p>
            <a:pPr>
              <a:lnSpc>
                <a:spcPct val="120000"/>
              </a:lnSpc>
              <a:spcBef>
                <a:spcPts val="0"/>
              </a:spcBef>
              <a:spcAft>
                <a:spcPts val="0"/>
              </a:spcAft>
              <a:defRPr sz="1100" b="0">
                <a:solidFill>
                  <a:srgbClr val="7A8A8E"/>
                </a:solidFill>
                <a:latin typeface="Noto Sans KR"/>
              </a:defRPr>
            </a:pPr>
            <a:r>
              <a:t>11</a:t>
            </a:r>
          </a:p>
        </p:txBody>
      </p:sp>
      <p:sp>
        <p:nvSpPr>
          <p:cNvPr id="3" name="TextBox 2"/>
          <p:cNvSpPr txBox="1"/>
          <p:nvPr/>
        </p:nvSpPr>
        <p:spPr>
          <a:xfrm>
            <a:off x="609600" y="482600"/>
            <a:ext cx="10541000" cy="698500"/>
          </a:xfrm>
          <a:prstGeom prst="rect">
            <a:avLst/>
          </a:prstGeom>
          <a:noFill/>
        </p:spPr>
        <p:txBody>
          <a:bodyPr wrap="none" lIns="0" rIns="0" tIns="0" bIns="0">
            <a:spAutoFit/>
          </a:bodyPr>
          <a:lstStyle/>
          <a:p>
            <a:pPr>
              <a:lnSpc>
                <a:spcPct val="120000"/>
              </a:lnSpc>
              <a:spcBef>
                <a:spcPts val="0"/>
              </a:spcBef>
              <a:spcAft>
                <a:spcPts val="0"/>
              </a:spcAft>
              <a:defRPr sz="2900" b="1">
                <a:solidFill>
                  <a:srgbClr val="1C2C32"/>
                </a:solidFill>
                <a:latin typeface="Noto Sans KR"/>
              </a:defRPr>
            </a:pPr>
            <a:r>
              <a:t>참고자료</a:t>
            </a:r>
          </a:p>
        </p:txBody>
      </p:sp>
      <p:sp>
        <p:nvSpPr>
          <p:cNvPr id="4" name="TextBox 3"/>
          <p:cNvSpPr txBox="1"/>
          <p:nvPr/>
        </p:nvSpPr>
        <p:spPr>
          <a:xfrm>
            <a:off x="609600" y="1587500"/>
            <a:ext cx="10795000" cy="444500"/>
          </a:xfrm>
          <a:prstGeom prst="rect">
            <a:avLst/>
          </a:prstGeom>
          <a:noFill/>
        </p:spPr>
        <p:txBody>
          <a:bodyPr wrap="none" lIns="0" rIns="0" tIns="0" bIns="0">
            <a:spAutoFit/>
          </a:bodyPr>
          <a:lstStyle/>
          <a:p>
            <a:pPr>
              <a:lnSpc>
                <a:spcPct val="120000"/>
              </a:lnSpc>
              <a:spcBef>
                <a:spcPts val="0"/>
              </a:spcBef>
              <a:spcAft>
                <a:spcPts val="0"/>
              </a:spcAft>
              <a:defRPr sz="2100" b="1">
                <a:solidFill>
                  <a:srgbClr val="1C2C32"/>
                </a:solidFill>
                <a:latin typeface="Noto Sans KR"/>
              </a:defRPr>
            </a:pPr>
            <a:r>
              <a:t>직접 참고한 자료</a:t>
            </a:r>
          </a:p>
        </p:txBody>
      </p:sp>
      <p:sp>
        <p:nvSpPr>
          <p:cNvPr id="5" name="TextBox 4"/>
          <p:cNvSpPr txBox="1"/>
          <p:nvPr/>
        </p:nvSpPr>
        <p:spPr>
          <a:xfrm>
            <a:off x="609600" y="2197100"/>
            <a:ext cx="10972800" cy="1778000"/>
          </a:xfrm>
          <a:prstGeom prst="rect">
            <a:avLst/>
          </a:prstGeom>
          <a:noFill/>
        </p:spPr>
        <p:txBody>
          <a:bodyPr wrap="none" lIns="0" rIns="0" tIns="0" bIns="0">
            <a:spAutoFit/>
          </a:bodyPr>
          <a:lstStyle/>
          <a:p>
            <a:pPr>
              <a:lnSpc>
                <a:spcPct val="120000"/>
              </a:lnSpc>
              <a:spcBef>
                <a:spcPts val="0"/>
              </a:spcBef>
              <a:spcAft>
                <a:spcPts val="0"/>
              </a:spcAft>
              <a:defRPr sz="1400" b="0">
                <a:solidFill>
                  <a:srgbClr val="1C2C32"/>
                </a:solidFill>
                <a:latin typeface="Noto Sans KR"/>
              </a:defRPr>
            </a:pPr>
            <a:r>
              <a:t>LG AI Research (2024.11.04.)</a:t>
            </a:r>
          </a:p>
          <a:p>
            <a:pPr>
              <a:lnSpc>
                <a:spcPct val="120000"/>
              </a:lnSpc>
              <a:spcBef>
                <a:spcPts val="0"/>
              </a:spcBef>
              <a:spcAft>
                <a:spcPts val="0"/>
              </a:spcAft>
              <a:defRPr sz="1400" b="0">
                <a:solidFill>
                  <a:srgbClr val="1C2C32"/>
                </a:solidFill>
                <a:latin typeface="Noto Sans KR"/>
              </a:defRPr>
            </a:pPr>
            <a:r>
              <a:t>[AI 윤리 세미나 ep.1] 생성형 AI를 위한 Red Team 연구 트렌드와 응용 사례</a:t>
            </a:r>
          </a:p>
          <a:p>
            <a:pPr>
              <a:lnSpc>
                <a:spcPct val="120000"/>
              </a:lnSpc>
              <a:spcBef>
                <a:spcPts val="0"/>
              </a:spcBef>
              <a:spcAft>
                <a:spcPts val="0"/>
              </a:spcAft>
              <a:defRPr sz="1400" b="0">
                <a:solidFill>
                  <a:srgbClr val="1C2C32"/>
                </a:solidFill>
                <a:latin typeface="Noto Sans KR"/>
              </a:defRPr>
            </a:pPr>
            <a:r>
              <a:t>https://www.lgresearch.ai/blog/view?seq=496</a:t>
            </a:r>
          </a:p>
        </p:txBody>
      </p:sp>
      <p:sp>
        <p:nvSpPr>
          <p:cNvPr id="6" name="TextBox 5"/>
          <p:cNvSpPr txBox="1"/>
          <p:nvPr/>
        </p:nvSpPr>
        <p:spPr>
          <a:xfrm>
            <a:off x="609600" y="3492500"/>
            <a:ext cx="10795000" cy="444500"/>
          </a:xfrm>
          <a:prstGeom prst="rect">
            <a:avLst/>
          </a:prstGeom>
          <a:noFill/>
        </p:spPr>
        <p:txBody>
          <a:bodyPr wrap="none" lIns="0" rIns="0" tIns="0" bIns="0">
            <a:spAutoFit/>
          </a:bodyPr>
          <a:lstStyle/>
          <a:p>
            <a:pPr>
              <a:lnSpc>
                <a:spcPct val="120000"/>
              </a:lnSpc>
              <a:spcBef>
                <a:spcPts val="0"/>
              </a:spcBef>
              <a:spcAft>
                <a:spcPts val="0"/>
              </a:spcAft>
              <a:defRPr sz="2100" b="1">
                <a:solidFill>
                  <a:srgbClr val="1C2C32"/>
                </a:solidFill>
                <a:latin typeface="Noto Sans KR"/>
              </a:defRPr>
            </a:pPr>
            <a:r>
              <a:t>블로그가 인용한 연구</a:t>
            </a:r>
          </a:p>
        </p:txBody>
      </p:sp>
      <p:sp>
        <p:nvSpPr>
          <p:cNvPr id="7" name="TextBox 6"/>
          <p:cNvSpPr txBox="1"/>
          <p:nvPr/>
        </p:nvSpPr>
        <p:spPr>
          <a:xfrm>
            <a:off x="609600" y="4102099"/>
            <a:ext cx="10972800" cy="1778000"/>
          </a:xfrm>
          <a:prstGeom prst="rect">
            <a:avLst/>
          </a:prstGeom>
          <a:noFill/>
        </p:spPr>
        <p:txBody>
          <a:bodyPr wrap="none" lIns="0" rIns="0" tIns="0" bIns="0">
            <a:spAutoFit/>
          </a:bodyPr>
          <a:lstStyle/>
          <a:p>
            <a:pPr>
              <a:lnSpc>
                <a:spcPct val="120000"/>
              </a:lnSpc>
              <a:spcBef>
                <a:spcPts val="0"/>
              </a:spcBef>
              <a:spcAft>
                <a:spcPts val="0"/>
              </a:spcAft>
              <a:defRPr sz="1400" b="0">
                <a:solidFill>
                  <a:srgbClr val="1C2C32"/>
                </a:solidFill>
                <a:latin typeface="Noto Sans KR"/>
              </a:defRPr>
            </a:pPr>
            <a:r>
              <a:t>Lin et al. (2024), Against The Achilles’ Heel</a:t>
            </a:r>
          </a:p>
          <a:p>
            <a:pPr>
              <a:lnSpc>
                <a:spcPct val="120000"/>
              </a:lnSpc>
              <a:spcBef>
                <a:spcPts val="0"/>
              </a:spcBef>
              <a:spcAft>
                <a:spcPts val="0"/>
              </a:spcAft>
              <a:defRPr sz="1400" b="0">
                <a:solidFill>
                  <a:srgbClr val="1C2C32"/>
                </a:solidFill>
                <a:latin typeface="Noto Sans KR"/>
              </a:defRPr>
            </a:pPr>
            <a:r>
              <a:t>https://arxiv.org/abs/2404.00629</a:t>
            </a:r>
          </a:p>
          <a:p>
            <a:pPr>
              <a:lnSpc>
                <a:spcPct val="120000"/>
              </a:lnSpc>
              <a:spcBef>
                <a:spcPts val="0"/>
              </a:spcBef>
              <a:spcAft>
                <a:spcPts val="0"/>
              </a:spcAft>
              <a:defRPr sz="1400" b="0">
                <a:solidFill>
                  <a:srgbClr val="1C2C32"/>
                </a:solidFill>
                <a:latin typeface="Noto Sans KR"/>
              </a:defRPr>
            </a:pPr>
            <a:r>
              <a:t>Ge et al. (2023), MART: Improving LLM Safety with Multi-round Automatic Red-Teaming</a:t>
            </a:r>
          </a:p>
          <a:p>
            <a:pPr>
              <a:lnSpc>
                <a:spcPct val="120000"/>
              </a:lnSpc>
              <a:spcBef>
                <a:spcPts val="0"/>
              </a:spcBef>
              <a:spcAft>
                <a:spcPts val="0"/>
              </a:spcAft>
              <a:defRPr sz="1400" b="0">
                <a:solidFill>
                  <a:srgbClr val="1C2C32"/>
                </a:solidFill>
                <a:latin typeface="Noto Sans KR"/>
              </a:defRPr>
            </a:pPr>
            <a:r>
              <a:t>https://arxiv.org/abs/2311.07689</a:t>
            </a:r>
          </a:p>
        </p:txBody>
      </p:sp>
      <p:sp>
        <p:nvSpPr>
          <p:cNvPr id="8" name="TextBox 7"/>
          <p:cNvSpPr txBox="1"/>
          <p:nvPr/>
        </p:nvSpPr>
        <p:spPr>
          <a:xfrm>
            <a:off x="609600" y="6413500"/>
            <a:ext cx="10972800" cy="317500"/>
          </a:xfrm>
          <a:prstGeom prst="rect">
            <a:avLst/>
          </a:prstGeom>
          <a:noFill/>
        </p:spPr>
        <p:txBody>
          <a:bodyPr wrap="none" lIns="0" rIns="0" tIns="0" bIns="0">
            <a:spAutoFit/>
          </a:bodyPr>
          <a:lstStyle/>
          <a:p>
            <a:pPr>
              <a:lnSpc>
                <a:spcPct val="120000"/>
              </a:lnSpc>
              <a:spcBef>
                <a:spcPts val="0"/>
              </a:spcBef>
              <a:spcAft>
                <a:spcPts val="0"/>
              </a:spcAft>
              <a:defRPr sz="1000" b="0">
                <a:solidFill>
                  <a:srgbClr val="7A8A8E"/>
                </a:solidFill>
                <a:latin typeface="Noto Sans KR"/>
              </a:defRPr>
            </a:pPr>
            <a:r>
              <a:t>발표는 저장된 2024년 블로그를 바탕으로 작성 · 논문 전문의 독립적인 재현 실험은 수행하지 않음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