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1" r:id="rId3"/>
    <p:sldId id="262" r:id="rId4"/>
    <p:sldId id="263" r:id="rId5"/>
    <p:sldId id="265" r:id="rId6"/>
    <p:sldId id="264" r:id="rId7"/>
    <p:sldId id="266" r:id="rId8"/>
    <p:sldId id="268" r:id="rId9"/>
    <p:sldId id="267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839092-15F8-4C72-A6BC-E11C1D12CDAA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834EDFF-C18C-466F-B693-08283F9FE7CF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  <a:endParaRPr lang="en-US"/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10" name="직사각형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직사각형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직사각형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20" name="날짜 개체 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fld id="{0421086B-92A0-4D22-94D7-207C8E029793}" type="datetime1">
              <a:rPr lang="ko-KR" altLang="en-US" smtClean="0"/>
              <a:t>2026-06-04</a:t>
            </a:fld>
            <a:endParaRPr lang="en-US" dirty="0"/>
          </a:p>
        </p:txBody>
      </p:sp>
      <p:sp>
        <p:nvSpPr>
          <p:cNvPr id="21" name="바닥글 개체 틀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EABA43C-120F-4415-98B3-372D2FECC855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23" name="직사각형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직사각형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직사각형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fld id="{7A3EB572-C624-418B-8597-163D90616FC8}" type="datetime1">
              <a:rPr lang="ko-KR" altLang="en-US" smtClean="0"/>
              <a:t>2026-06-04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BE760CE9-DAAA-4235-992F-BD3E0145916A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12DB1AE6-F89A-4A3B-A7FF-0FB649FB73D9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D692FE0A-EA49-4D7D-9497-837FBECB3F6B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56FBB2DF-47A9-40D1-8CCE-28FE2873E83F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490B79C2-6C94-403B-8C2C-F3D94681D3D0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fld id="{85759F83-5FB7-41EB-8B77-54D18451864A}" type="datetime1">
              <a:rPr lang="ko-KR" altLang="en-US" smtClean="0"/>
              <a:t>2026-06-04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algn="l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9AA789D4-F75C-46F1-A8E1-B49D7553F821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6E95217A-41F5-40B0-A1B1-26DD36AFCC5B}" type="datetime1">
              <a:rPr lang="ko-KR" altLang="en-US" smtClean="0"/>
              <a:t>2026-06-04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직사각형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98D2B5FF-957F-493E-A036-A1B14CB1BDF4}" type="datetime1">
              <a:rPr lang="ko-KR" altLang="en-US" smtClean="0"/>
              <a:t>2026-06-04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ea"/>
          <a:ea typeface="+mj-ea"/>
          <a:cs typeface="+mn-cs"/>
        </a:defRPr>
      </a:lvl1pPr>
    </p:titleStyle>
    <p:bodyStyle>
      <a:lvl1pPr marL="182880" indent="-182880" algn="l" defTabSz="914400" rtl="0" eaLnBrk="1" latinLnBrk="1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j-ea"/>
          <a:ea typeface="+mj-ea"/>
          <a:cs typeface="+mn-cs"/>
        </a:defRPr>
      </a:lvl2pPr>
      <a:lvl3pPr marL="73152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3pPr>
      <a:lvl4pPr marL="100584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4pPr>
      <a:lvl5pPr marL="128016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5pPr>
      <a:lvl6pPr marL="16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로고 클로즈업&#10;&#10;자동 생성되는 설명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ko-KR" altLang="en-US" sz="3200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베이지안 신경망을 이용한 임금자료 분석</a:t>
            </a:r>
            <a:endParaRPr lang="ko" sz="3200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 fontScale="77500" lnSpcReduction="20000"/>
          </a:bodyPr>
          <a:lstStyle/>
          <a:p>
            <a:pPr rtl="0">
              <a:spcAft>
                <a:spcPts val="600"/>
              </a:spcAft>
            </a:pPr>
            <a:r>
              <a:rPr lang="en-US" altLang="ko-KR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2026.6.4.</a:t>
            </a:r>
          </a:p>
          <a:p>
            <a:pPr>
              <a:spcAft>
                <a:spcPts val="600"/>
              </a:spcAft>
            </a:pPr>
            <a:r>
              <a:rPr lang="ko-KR" altLang="en-US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김동현</a:t>
            </a:r>
            <a:endParaRPr lang="en-US" altLang="ko-KR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ko-KR" altLang="en-US" dirty="0">
                <a:latin typeface="+mj-ea"/>
                <a:ea typeface="+mj-ea"/>
              </a:rPr>
              <a:t>베이지안 신경망 분석의 특징</a:t>
            </a:r>
            <a:endParaRPr lang="ko" dirty="0"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911F8C-1129-B957-0B01-8E2C7EBB4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인공신경망 분석은 </a:t>
            </a:r>
            <a:r>
              <a:rPr lang="ko-KR" altLang="en-US" sz="1800" dirty="0" err="1"/>
              <a:t>최대가능도추정</a:t>
            </a:r>
            <a:r>
              <a:rPr lang="en-US" altLang="ko-KR" sz="1800" dirty="0"/>
              <a:t>(MLE) </a:t>
            </a:r>
            <a:r>
              <a:rPr lang="ko-KR" altLang="en-US" sz="1800" dirty="0"/>
              <a:t>방법을 통해 하나의 점을 추정함</a:t>
            </a:r>
            <a:endParaRPr lang="en-US" altLang="ko-KR" sz="1800" dirty="0"/>
          </a:p>
          <a:p>
            <a:pPr lvl="1"/>
            <a:r>
              <a:rPr lang="ko-KR" altLang="en-US" sz="1600" dirty="0"/>
              <a:t>이 방식으로 </a:t>
            </a:r>
            <a:r>
              <a:rPr lang="ko-KR" altLang="en-US" sz="1600" dirty="0" err="1"/>
              <a:t>예측값을</a:t>
            </a:r>
            <a:r>
              <a:rPr lang="ko-KR" altLang="en-US" sz="1600" dirty="0"/>
              <a:t> 알 수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그 </a:t>
            </a:r>
            <a:r>
              <a:rPr lang="ko-KR" altLang="en-US" sz="1600" dirty="0" err="1"/>
              <a:t>예측값을</a:t>
            </a:r>
            <a:r>
              <a:rPr lang="ko-KR" altLang="en-US" sz="1600" dirty="0"/>
              <a:t> 얼마나 확신할 수 있는지를 설명해주지 못함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베이지안 신경망 분석은 가중치</a:t>
            </a:r>
            <a:r>
              <a:rPr lang="en-US" altLang="ko-KR" sz="1800" dirty="0"/>
              <a:t>(w)</a:t>
            </a:r>
            <a:r>
              <a:rPr lang="ko-KR" altLang="en-US" sz="1800" dirty="0"/>
              <a:t>에 사전분포</a:t>
            </a:r>
            <a:r>
              <a:rPr lang="en-US" altLang="ko-KR" sz="1800" dirty="0"/>
              <a:t> p(w)</a:t>
            </a:r>
            <a:r>
              <a:rPr lang="ko-KR" altLang="en-US" sz="1800" dirty="0"/>
              <a:t>를 부여하고</a:t>
            </a:r>
            <a:r>
              <a:rPr lang="en-US" altLang="ko-KR" sz="1800" dirty="0"/>
              <a:t>, </a:t>
            </a:r>
            <a:r>
              <a:rPr lang="ko-KR" altLang="en-US" sz="1800" dirty="0"/>
              <a:t>사후분포 </a:t>
            </a:r>
            <a:r>
              <a:rPr lang="en-US" altLang="ko-KR" sz="1800" dirty="0"/>
              <a:t>p(</a:t>
            </a:r>
            <a:r>
              <a:rPr lang="en-US" altLang="ko-KR" sz="1800" dirty="0" err="1"/>
              <a:t>w|D</a:t>
            </a:r>
            <a:r>
              <a:rPr lang="en-US" altLang="ko-KR" sz="1800" dirty="0"/>
              <a:t>)</a:t>
            </a:r>
            <a:r>
              <a:rPr lang="ko-KR" altLang="en-US" sz="1800" dirty="0"/>
              <a:t>를 추론</a:t>
            </a:r>
            <a:endParaRPr lang="en-US" altLang="ko-KR" sz="1800" dirty="0"/>
          </a:p>
          <a:p>
            <a:pPr lvl="1"/>
            <a:r>
              <a:rPr lang="ko-KR" altLang="en-US" sz="1600" dirty="0"/>
              <a:t>베이지안 모델 평균을 통한 예측과 불확실성의 정량화를 달성할 수 있음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이 자료에서는 미국의 임금데이터를 일반 신경망과 베이지안 신경망으로 각각 분석하여 비교</a:t>
            </a:r>
            <a:endParaRPr lang="en-US" altLang="ko-KR" sz="1800" dirty="0"/>
          </a:p>
          <a:p>
            <a:pPr lvl="1"/>
            <a:r>
              <a:rPr lang="ko-KR" altLang="en-US" sz="1600" dirty="0"/>
              <a:t>베이지안 신경망은 데이터가 부족한 구간에서 불확실성</a:t>
            </a:r>
            <a:r>
              <a:rPr lang="en-US" altLang="ko-KR" sz="1600" dirty="0"/>
              <a:t>(</a:t>
            </a:r>
            <a:r>
              <a:rPr lang="ko-KR" altLang="en-US" sz="1600" dirty="0"/>
              <a:t>신용구간</a:t>
            </a:r>
            <a:r>
              <a:rPr lang="en-US" altLang="ko-KR" sz="1600" dirty="0"/>
              <a:t>)</a:t>
            </a:r>
            <a:r>
              <a:rPr lang="ko-KR" altLang="en-US" sz="1600" dirty="0"/>
              <a:t>을 스스로 넓히는데</a:t>
            </a:r>
            <a:r>
              <a:rPr lang="en-US" altLang="ko-KR" sz="1600" dirty="0"/>
              <a:t>,</a:t>
            </a:r>
          </a:p>
          <a:p>
            <a:pPr lvl="1"/>
            <a:r>
              <a:rPr lang="ko-KR" altLang="en-US" sz="1600" dirty="0"/>
              <a:t>이는 점추정을 하는 인공신경망에서는 찾아볼 수 없는 특징임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BB48C-C8BE-80E5-3BEE-3A30A6118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미국 임금데이터</a:t>
            </a:r>
            <a:r>
              <a:rPr lang="en-US" altLang="ko-KR" dirty="0"/>
              <a:t>(ISLR)</a:t>
            </a:r>
            <a:r>
              <a:rPr lang="ko-KR" altLang="en-US" dirty="0"/>
              <a:t>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68E84-9571-8652-49F2-05A1743A7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ISLR</a:t>
            </a:r>
            <a:r>
              <a:rPr lang="ko-KR" altLang="en-US" sz="1800" dirty="0"/>
              <a:t> 라이브러리에 포함된 임금데이터는 </a:t>
            </a:r>
            <a:r>
              <a:rPr lang="en-US" altLang="ko-KR" sz="1800" dirty="0"/>
              <a:t>3,000</a:t>
            </a:r>
            <a:r>
              <a:rPr lang="ko-KR" altLang="en-US" sz="1800" dirty="0"/>
              <a:t>행 </a:t>
            </a:r>
            <a:r>
              <a:rPr lang="en-US" altLang="ko-KR" sz="1800" dirty="0"/>
              <a:t>X 12</a:t>
            </a:r>
            <a:r>
              <a:rPr lang="ko-KR" altLang="en-US" sz="1800" dirty="0"/>
              <a:t>열 로 구성되어 있음</a:t>
            </a:r>
            <a:endParaRPr lang="en-US" altLang="ko-KR" sz="1800" dirty="0"/>
          </a:p>
          <a:p>
            <a:pPr lvl="1"/>
            <a:r>
              <a:rPr lang="en-US" altLang="ko-KR" sz="1600" dirty="0"/>
              <a:t>Wage </a:t>
            </a:r>
            <a:r>
              <a:rPr lang="ko-KR" altLang="en-US" sz="1600" dirty="0"/>
              <a:t>데이터는 </a:t>
            </a:r>
            <a:r>
              <a:rPr lang="en-US" altLang="ko-KR" sz="1600" dirty="0"/>
              <a:t>year,</a:t>
            </a:r>
            <a:r>
              <a:rPr lang="ko-KR" altLang="en-US" sz="1600" dirty="0"/>
              <a:t> </a:t>
            </a:r>
            <a:r>
              <a:rPr lang="en-US" altLang="ko-KR" sz="1600" dirty="0"/>
              <a:t>age,</a:t>
            </a:r>
            <a:r>
              <a:rPr lang="ko-KR" altLang="en-US" sz="1600" dirty="0"/>
              <a:t> </a:t>
            </a:r>
            <a:r>
              <a:rPr lang="en-US" altLang="ko-KR" sz="1600" dirty="0"/>
              <a:t>sex,</a:t>
            </a:r>
            <a:r>
              <a:rPr lang="ko-KR" altLang="en-US" sz="1600" dirty="0"/>
              <a:t> </a:t>
            </a:r>
            <a:r>
              <a:rPr lang="en-US" altLang="ko-KR" sz="1600" dirty="0" err="1"/>
              <a:t>maritl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race,</a:t>
            </a:r>
            <a:r>
              <a:rPr lang="ko-KR" altLang="en-US" sz="1600" dirty="0"/>
              <a:t> </a:t>
            </a:r>
            <a:r>
              <a:rPr lang="en-US" altLang="ko-KR" sz="1600" dirty="0"/>
              <a:t>education, region, </a:t>
            </a:r>
            <a:r>
              <a:rPr lang="en-US" altLang="ko-KR" sz="1600" dirty="0" err="1"/>
              <a:t>jobclass</a:t>
            </a:r>
            <a:r>
              <a:rPr lang="en-US" altLang="ko-KR" sz="1600" dirty="0"/>
              <a:t>, health, </a:t>
            </a:r>
            <a:r>
              <a:rPr lang="en-US" altLang="ko-KR" sz="1600" dirty="0" err="1"/>
              <a:t>health_ins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logwage</a:t>
            </a:r>
            <a:r>
              <a:rPr lang="en-US" altLang="ko-KR" sz="1600" dirty="0"/>
              <a:t>, wage </a:t>
            </a:r>
            <a:r>
              <a:rPr lang="ko-KR" altLang="en-US" sz="1600" dirty="0"/>
              <a:t>로</a:t>
            </a:r>
            <a:r>
              <a:rPr lang="en-US" altLang="ko-KR" sz="1600" dirty="0"/>
              <a:t> </a:t>
            </a:r>
            <a:r>
              <a:rPr lang="ko-KR" altLang="en-US" sz="1600" dirty="0"/>
              <a:t>구성됨</a:t>
            </a:r>
            <a:endParaRPr lang="en-US" altLang="ko-KR" sz="1600" dirty="0"/>
          </a:p>
          <a:p>
            <a:endParaRPr lang="en-US" altLang="ko-KR" sz="1800" dirty="0"/>
          </a:p>
          <a:p>
            <a:r>
              <a:rPr lang="en-US" altLang="ko-KR" sz="1800" dirty="0"/>
              <a:t>3000</a:t>
            </a:r>
            <a:r>
              <a:rPr lang="ko-KR" altLang="en-US" sz="1800" dirty="0"/>
              <a:t>개의 데이터는 잘 정리되어 있으며</a:t>
            </a:r>
            <a:r>
              <a:rPr lang="en-US" altLang="ko-KR" sz="1800" dirty="0"/>
              <a:t>, </a:t>
            </a:r>
            <a:r>
              <a:rPr lang="ko-KR" altLang="en-US" sz="1800" dirty="0"/>
              <a:t>연령 변화에 따른 임금 변화 뿐만 아니라 다양한 요인에 따른 임금 차이를 살펴볼 수 있음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연령</a:t>
            </a:r>
            <a:r>
              <a:rPr lang="en-US" altLang="ko-KR" sz="1800" dirty="0"/>
              <a:t>-</a:t>
            </a:r>
            <a:r>
              <a:rPr lang="ko-KR" altLang="en-US" sz="1800" dirty="0"/>
              <a:t>임금 관계 및 직종</a:t>
            </a:r>
            <a:r>
              <a:rPr lang="en-US" altLang="ko-KR" sz="1800" dirty="0"/>
              <a:t>(</a:t>
            </a:r>
            <a:r>
              <a:rPr lang="ko-KR" altLang="en-US" sz="1800" dirty="0"/>
              <a:t>생산직</a:t>
            </a:r>
            <a:r>
              <a:rPr lang="en-US" altLang="ko-KR" sz="1800" dirty="0"/>
              <a:t>-</a:t>
            </a:r>
            <a:r>
              <a:rPr lang="ko-KR" altLang="en-US" sz="1800" dirty="0"/>
              <a:t>사무직</a:t>
            </a:r>
            <a:r>
              <a:rPr lang="en-US" altLang="ko-KR" sz="1800" dirty="0"/>
              <a:t>)-</a:t>
            </a:r>
            <a:r>
              <a:rPr lang="ko-KR" altLang="en-US" sz="1800" dirty="0"/>
              <a:t>연령</a:t>
            </a:r>
            <a:r>
              <a:rPr lang="en-US" altLang="ko-KR" sz="1800" dirty="0"/>
              <a:t>-</a:t>
            </a:r>
            <a:r>
              <a:rPr lang="ko-KR" altLang="en-US" sz="1800" dirty="0"/>
              <a:t>임금 관계를 분석하겠음</a:t>
            </a:r>
            <a:endParaRPr lang="en-US" altLang="ko-KR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E7ED75-2388-8277-DE61-83F2C0C4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0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08FB-97C9-EE2D-A9EA-7C4C464C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3A3B9-A925-6940-28AD-53723588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미국 임금데이터</a:t>
            </a:r>
            <a:r>
              <a:rPr lang="en-US" altLang="ko-KR" dirty="0"/>
              <a:t>(ISLR)</a:t>
            </a:r>
            <a:r>
              <a:rPr lang="ko-KR" altLang="en-US" dirty="0"/>
              <a:t> 분석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B51A4-5B7C-A4E2-E35A-E765BBB4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2026-06-04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918A8D-EB81-DE9E-4BDA-E581D916E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71" y="2362769"/>
            <a:ext cx="10270857" cy="278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3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D9D72-0369-FB54-D2D9-F8FC1CB4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3018-5F6E-971F-7A2A-57A2F7A6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미국 임금데이터</a:t>
            </a:r>
            <a:r>
              <a:rPr lang="en-US" altLang="ko-KR" dirty="0"/>
              <a:t>(ISLR)</a:t>
            </a:r>
            <a:r>
              <a:rPr lang="ko-KR" altLang="en-US" dirty="0"/>
              <a:t> 분석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2F8A11-CACD-8761-63F7-0C09FD9BC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2026-06-04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B04D32-5779-4FA9-D61C-93619A9D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381113"/>
            <a:ext cx="10149839" cy="275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1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73F03-0B93-6B20-C621-8F8C2057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일반 인공신경망 분석</a:t>
            </a:r>
            <a:r>
              <a:rPr lang="en-US" altLang="ko-KR" dirty="0"/>
              <a:t>(MLE </a:t>
            </a:r>
            <a:r>
              <a:rPr lang="ko-KR" altLang="en-US" dirty="0" err="1"/>
              <a:t>점추정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4E64A8-CB49-32B0-D33E-1AF67892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2026-06-04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D654CF-549F-5638-F5B9-4A6789A2D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091" y="1907536"/>
            <a:ext cx="5983817" cy="423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8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10CCD-ACAC-BA2F-32CD-BD5176A8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베이지안 인공신경망 분석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57F68F-BAB5-9160-D080-164E3A9C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2026-06-05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511853-A1CA-D87B-EB49-0CD63A73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253796"/>
            <a:ext cx="9550400" cy="36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4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9530F-8711-EE84-1997-EB1F831D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모형별 </a:t>
            </a:r>
            <a:r>
              <a:rPr lang="en-US" altLang="ko-KR" dirty="0"/>
              <a:t>RMSE(</a:t>
            </a:r>
            <a:r>
              <a:rPr lang="ko-KR" altLang="en-US" dirty="0" err="1"/>
              <a:t>평균제곱근오차</a:t>
            </a:r>
            <a:r>
              <a:rPr lang="en-US" altLang="ko-KR" dirty="0"/>
              <a:t>) </a:t>
            </a:r>
            <a:r>
              <a:rPr lang="ko-KR" altLang="en-US" dirty="0"/>
              <a:t>비교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7CC3B547-9358-09E5-3E94-A3CE1BE66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645061"/>
              </p:ext>
            </p:extLst>
          </p:nvPr>
        </p:nvGraphicFramePr>
        <p:xfrm>
          <a:off x="1066799" y="2103438"/>
          <a:ext cx="9897534" cy="328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178">
                  <a:extLst>
                    <a:ext uri="{9D8B030D-6E8A-4147-A177-3AD203B41FA5}">
                      <a16:colId xmlns:a16="http://schemas.microsoft.com/office/drawing/2014/main" val="378756575"/>
                    </a:ext>
                  </a:extLst>
                </a:gridCol>
                <a:gridCol w="3299178">
                  <a:extLst>
                    <a:ext uri="{9D8B030D-6E8A-4147-A177-3AD203B41FA5}">
                      <a16:colId xmlns:a16="http://schemas.microsoft.com/office/drawing/2014/main" val="3308556942"/>
                    </a:ext>
                  </a:extLst>
                </a:gridCol>
                <a:gridCol w="3299178">
                  <a:extLst>
                    <a:ext uri="{9D8B030D-6E8A-4147-A177-3AD203B41FA5}">
                      <a16:colId xmlns:a16="http://schemas.microsoft.com/office/drawing/2014/main" val="140451327"/>
                    </a:ext>
                  </a:extLst>
                </a:gridCol>
              </a:tblGrid>
              <a:tr h="820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 </a:t>
                      </a:r>
                      <a:r>
                        <a:rPr lang="en-US" altLang="ko-KR" dirty="0"/>
                        <a:t>NN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베이지안 </a:t>
                      </a:r>
                      <a:r>
                        <a:rPr lang="en-US" altLang="ko-KR" dirty="0"/>
                        <a:t>NN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116882"/>
                  </a:ext>
                </a:extLst>
              </a:tr>
              <a:tr h="820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전체</a:t>
                      </a:r>
                      <a:r>
                        <a:rPr lang="en-US" altLang="ko-KR" dirty="0"/>
                        <a:t> (n=3000)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40.32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40.26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709080"/>
                  </a:ext>
                </a:extLst>
              </a:tr>
              <a:tr h="820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Jobclass</a:t>
                      </a:r>
                      <a:r>
                        <a:rPr lang="en-US" altLang="ko-KR" dirty="0"/>
                        <a:t>=1(n=1544)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30.53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30.93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298282"/>
                  </a:ext>
                </a:extLst>
              </a:tr>
              <a:tr h="820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Jobclass</a:t>
                      </a:r>
                      <a:r>
                        <a:rPr lang="en-US" altLang="ko-KR" dirty="0"/>
                        <a:t>=2(n=1456)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48.70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49.43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278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B78A88-4CAC-3053-9AD4-EB9ABE443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2C85A-A37B-3AB0-3FAE-855189A8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err="1"/>
              <a:t>직군별</a:t>
            </a:r>
            <a:r>
              <a:rPr lang="ko-KR" altLang="en-US" dirty="0"/>
              <a:t> 연령</a:t>
            </a:r>
            <a:r>
              <a:rPr lang="en-US" altLang="ko-KR" dirty="0"/>
              <a:t>-</a:t>
            </a:r>
            <a:r>
              <a:rPr lang="ko-KR" altLang="en-US" dirty="0"/>
              <a:t>임금</a:t>
            </a:r>
            <a:r>
              <a:rPr lang="en-US" altLang="ko-KR" dirty="0"/>
              <a:t>: </a:t>
            </a:r>
            <a:r>
              <a:rPr lang="ko-KR" altLang="en-US" dirty="0"/>
              <a:t>일반신경망 </a:t>
            </a:r>
            <a:r>
              <a:rPr lang="en-US" altLang="ko-KR" dirty="0"/>
              <a:t>vs </a:t>
            </a:r>
            <a:r>
              <a:rPr lang="ko-KR" altLang="en-US" dirty="0"/>
              <a:t>베이지안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B2455-D57F-F413-7810-EADCD120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2026-06-05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25C250-9008-FD97-CEB4-8B4CE2602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124" y="1713217"/>
            <a:ext cx="5919752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66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84_TF78438558" id="{3CB50A5E-A4A2-4D8C-92BF-ECB022D5D39A}" vid="{3F4CD028-47E6-4463-B06D-5EDDC9C0696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{5E2E797D-9094-4C1C-8256-A09197FD5AE4}TF8a9b5915-b8c7-461e-8cdd-693d48b5e323fdde8251_win32-0f67f964ddf4</Template>
  <TotalTime>195</TotalTime>
  <Words>266</Words>
  <Application>Microsoft Office PowerPoint</Application>
  <PresentationFormat>와이드스크린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Malgun Gothic</vt:lpstr>
      <vt:lpstr>Malgun Gothic</vt:lpstr>
      <vt:lpstr>Calibri</vt:lpstr>
      <vt:lpstr>Garamond</vt:lpstr>
      <vt:lpstr>SavonVTI</vt:lpstr>
      <vt:lpstr>베이지안 신경망을 이용한 임금자료 분석</vt:lpstr>
      <vt:lpstr>베이지안 신경망 분석의 특징</vt:lpstr>
      <vt:lpstr>미국 임금데이터(ISLR) 분석</vt:lpstr>
      <vt:lpstr>미국 임금데이터(ISLR) 분석</vt:lpstr>
      <vt:lpstr>미국 임금데이터(ISLR) 분석</vt:lpstr>
      <vt:lpstr>일반 인공신경망 분석(MLE 점추정)</vt:lpstr>
      <vt:lpstr>베이지안 인공신경망 분석</vt:lpstr>
      <vt:lpstr>모형별 RMSE(평균제곱근오차) 비교</vt:lpstr>
      <vt:lpstr>직군별 연령-임금: 일반신경망 vs 베이지안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김</dc:creator>
  <cp:lastModifiedBy>동현 김</cp:lastModifiedBy>
  <cp:revision>2</cp:revision>
  <dcterms:created xsi:type="dcterms:W3CDTF">2026-06-04T13:12:21Z</dcterms:created>
  <dcterms:modified xsi:type="dcterms:W3CDTF">2026-06-04T16:27:36Z</dcterms:modified>
</cp:coreProperties>
</file>